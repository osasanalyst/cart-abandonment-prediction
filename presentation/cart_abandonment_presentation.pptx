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3" autoAdjust="0"/>
    <p:restoredTop sz="94660"/>
  </p:normalViewPr>
  <p:slideViewPr>
    <p:cSldViewPr snapToGrid="0">
      <p:cViewPr varScale="1">
        <p:scale>
          <a:sx n="79" d="100"/>
          <a:sy n="79" d="100"/>
        </p:scale>
        <p:origin x="16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38CF627-9488-4555-B24F-D1ACAB6073CE}"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F8BB8-1BA7-488A-861C-76379F7A2574}" type="slidenum">
              <a:rPr lang="en-US" smtClean="0"/>
              <a:t>‹#›</a:t>
            </a:fld>
            <a:endParaRPr lang="en-US"/>
          </a:p>
        </p:txBody>
      </p:sp>
    </p:spTree>
    <p:extLst>
      <p:ext uri="{BB962C8B-B14F-4D97-AF65-F5344CB8AC3E}">
        <p14:creationId xmlns:p14="http://schemas.microsoft.com/office/powerpoint/2010/main" val="938393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8CF627-9488-4555-B24F-D1ACAB6073CE}"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F8BB8-1BA7-488A-861C-76379F7A2574}" type="slidenum">
              <a:rPr lang="en-US" smtClean="0"/>
              <a:t>‹#›</a:t>
            </a:fld>
            <a:endParaRPr lang="en-US"/>
          </a:p>
        </p:txBody>
      </p:sp>
    </p:spTree>
    <p:extLst>
      <p:ext uri="{BB962C8B-B14F-4D97-AF65-F5344CB8AC3E}">
        <p14:creationId xmlns:p14="http://schemas.microsoft.com/office/powerpoint/2010/main" val="388548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38CF627-9488-4555-B24F-D1ACAB6073CE}"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F8BB8-1BA7-488A-861C-76379F7A2574}" type="slidenum">
              <a:rPr lang="en-US" smtClean="0"/>
              <a:t>‹#›</a:t>
            </a:fld>
            <a:endParaRPr lang="en-US"/>
          </a:p>
        </p:txBody>
      </p:sp>
    </p:spTree>
    <p:extLst>
      <p:ext uri="{BB962C8B-B14F-4D97-AF65-F5344CB8AC3E}">
        <p14:creationId xmlns:p14="http://schemas.microsoft.com/office/powerpoint/2010/main" val="3538594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38CF627-9488-4555-B24F-D1ACAB6073CE}"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9F8BB8-1BA7-488A-861C-76379F7A2574}" type="slidenum">
              <a:rPr lang="en-US" smtClean="0"/>
              <a:t>‹#›</a:t>
            </a:fld>
            <a:endParaRPr lang="en-US"/>
          </a:p>
        </p:txBody>
      </p:sp>
    </p:spTree>
    <p:extLst>
      <p:ext uri="{BB962C8B-B14F-4D97-AF65-F5344CB8AC3E}">
        <p14:creationId xmlns:p14="http://schemas.microsoft.com/office/powerpoint/2010/main" val="1004023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38CF627-9488-4555-B24F-D1ACAB6073CE}"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9F8BB8-1BA7-488A-861C-76379F7A2574}" type="slidenum">
              <a:rPr lang="en-US" smtClean="0"/>
              <a:t>‹#›</a:t>
            </a:fld>
            <a:endParaRPr lang="en-US"/>
          </a:p>
        </p:txBody>
      </p:sp>
    </p:spTree>
    <p:extLst>
      <p:ext uri="{BB962C8B-B14F-4D97-AF65-F5344CB8AC3E}">
        <p14:creationId xmlns:p14="http://schemas.microsoft.com/office/powerpoint/2010/main" val="3603621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38CF627-9488-4555-B24F-D1ACAB6073CE}"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9F8BB8-1BA7-488A-861C-76379F7A2574}" type="slidenum">
              <a:rPr lang="en-US" smtClean="0"/>
              <a:t>‹#›</a:t>
            </a:fld>
            <a:endParaRPr lang="en-US"/>
          </a:p>
        </p:txBody>
      </p:sp>
    </p:spTree>
    <p:extLst>
      <p:ext uri="{BB962C8B-B14F-4D97-AF65-F5344CB8AC3E}">
        <p14:creationId xmlns:p14="http://schemas.microsoft.com/office/powerpoint/2010/main" val="1488780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8CF627-9488-4555-B24F-D1ACAB6073CE}"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9F8BB8-1BA7-488A-861C-76379F7A2574}" type="slidenum">
              <a:rPr lang="en-US" smtClean="0"/>
              <a:t>‹#›</a:t>
            </a:fld>
            <a:endParaRPr lang="en-US"/>
          </a:p>
        </p:txBody>
      </p:sp>
    </p:spTree>
    <p:extLst>
      <p:ext uri="{BB962C8B-B14F-4D97-AF65-F5344CB8AC3E}">
        <p14:creationId xmlns:p14="http://schemas.microsoft.com/office/powerpoint/2010/main" val="1295881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38CF627-9488-4555-B24F-D1ACAB6073CE}"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9F8BB8-1BA7-488A-861C-76379F7A2574}" type="slidenum">
              <a:rPr lang="en-US" smtClean="0"/>
              <a:t>‹#›</a:t>
            </a:fld>
            <a:endParaRPr lang="en-US"/>
          </a:p>
        </p:txBody>
      </p:sp>
    </p:spTree>
    <p:extLst>
      <p:ext uri="{BB962C8B-B14F-4D97-AF65-F5344CB8AC3E}">
        <p14:creationId xmlns:p14="http://schemas.microsoft.com/office/powerpoint/2010/main" val="1736598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38CF627-9488-4555-B24F-D1ACAB6073CE}"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9F8BB8-1BA7-488A-861C-76379F7A2574}" type="slidenum">
              <a:rPr lang="en-US" smtClean="0"/>
              <a:t>‹#›</a:t>
            </a:fld>
            <a:endParaRPr lang="en-US"/>
          </a:p>
        </p:txBody>
      </p:sp>
    </p:spTree>
    <p:extLst>
      <p:ext uri="{BB962C8B-B14F-4D97-AF65-F5344CB8AC3E}">
        <p14:creationId xmlns:p14="http://schemas.microsoft.com/office/powerpoint/2010/main" val="697995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8CF627-9488-4555-B24F-D1ACAB6073CE}"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F8BB8-1BA7-488A-861C-76379F7A2574}" type="slidenum">
              <a:rPr lang="en-US" smtClean="0"/>
              <a:t>‹#›</a:t>
            </a:fld>
            <a:endParaRPr lang="en-US"/>
          </a:p>
        </p:txBody>
      </p:sp>
    </p:spTree>
    <p:extLst>
      <p:ext uri="{BB962C8B-B14F-4D97-AF65-F5344CB8AC3E}">
        <p14:creationId xmlns:p14="http://schemas.microsoft.com/office/powerpoint/2010/main" val="1821415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8CF627-9488-4555-B24F-D1ACAB6073CE}"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9F8BB8-1BA7-488A-861C-76379F7A2574}" type="slidenum">
              <a:rPr lang="en-US" smtClean="0"/>
              <a:t>‹#›</a:t>
            </a:fld>
            <a:endParaRPr lang="en-US"/>
          </a:p>
        </p:txBody>
      </p:sp>
    </p:spTree>
    <p:extLst>
      <p:ext uri="{BB962C8B-B14F-4D97-AF65-F5344CB8AC3E}">
        <p14:creationId xmlns:p14="http://schemas.microsoft.com/office/powerpoint/2010/main" val="4239712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8CF627-9488-4555-B24F-D1ACAB6073CE}" type="datetimeFigureOut">
              <a:rPr lang="en-US" smtClean="0"/>
              <a:t>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9F8BB8-1BA7-488A-861C-76379F7A2574}" type="slidenum">
              <a:rPr lang="en-US" smtClean="0"/>
              <a:t>‹#›</a:t>
            </a:fld>
            <a:endParaRPr lang="en-US"/>
          </a:p>
        </p:txBody>
      </p:sp>
    </p:spTree>
    <p:extLst>
      <p:ext uri="{BB962C8B-B14F-4D97-AF65-F5344CB8AC3E}">
        <p14:creationId xmlns:p14="http://schemas.microsoft.com/office/powerpoint/2010/main" val="2523363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4.xml"/><Relationship Id="rId7" Type="http://schemas.openxmlformats.org/officeDocument/2006/relationships/slide" Target="slide12.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slide" Target="slide8.xml"/><Relationship Id="rId9" Type="http://schemas.openxmlformats.org/officeDocument/2006/relationships/slide" Target="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linkedin.com/in/osaretin-idiagbonmwen-33ab85339" TargetMode="External"/><Relationship Id="rId2" Type="http://schemas.openxmlformats.org/officeDocument/2006/relationships/hyperlink" Target="mailto:oidiagbonmwen@gmail.com" TargetMode="External"/><Relationship Id="rId1" Type="http://schemas.openxmlformats.org/officeDocument/2006/relationships/slideLayout" Target="../slideLayouts/slideLayout2.xml"/><Relationship Id="rId5" Type="http://schemas.openxmlformats.org/officeDocument/2006/relationships/hyperlink" Target="https://github.com/OsasAnalyst/cart-abandonment-prediction" TargetMode="External"/><Relationship Id="rId4" Type="http://schemas.openxmlformats.org/officeDocument/2006/relationships/hyperlink" Target="https://github.com/OsasAnalys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0688" y="524256"/>
            <a:ext cx="8144256" cy="1816608"/>
          </a:xfrm>
        </p:spPr>
        <p:txBody>
          <a:bodyPr>
            <a:noAutofit/>
          </a:bodyPr>
          <a:lstStyle/>
          <a:p>
            <a:pPr algn="l"/>
            <a:r>
              <a:rPr lang="en-US" b="1" dirty="0" smtClean="0">
                <a:latin typeface="Arial Black" panose="020B0A04020102020204" pitchFamily="34" charset="0"/>
              </a:rPr>
              <a:t>Cart Abandonment Analysis</a:t>
            </a:r>
            <a:endParaRPr lang="en-US" b="1" dirty="0">
              <a:latin typeface="Arial Black" panose="020B0A04020102020204" pitchFamily="34" charset="0"/>
            </a:endParaRPr>
          </a:p>
        </p:txBody>
      </p:sp>
      <p:sp>
        <p:nvSpPr>
          <p:cNvPr id="4" name="TextBox 3"/>
          <p:cNvSpPr txBox="1"/>
          <p:nvPr/>
        </p:nvSpPr>
        <p:spPr>
          <a:xfrm>
            <a:off x="170688" y="2340864"/>
            <a:ext cx="7863840" cy="584775"/>
          </a:xfrm>
          <a:prstGeom prst="rect">
            <a:avLst/>
          </a:prstGeom>
          <a:noFill/>
        </p:spPr>
        <p:txBody>
          <a:bodyPr wrap="square" rtlCol="0">
            <a:spAutoFit/>
          </a:bodyPr>
          <a:lstStyle/>
          <a:p>
            <a:r>
              <a:rPr lang="en-US" sz="3200" b="1" dirty="0" smtClean="0"/>
              <a:t>Predicting and Reducing Customer Drop-offs</a:t>
            </a:r>
            <a:endParaRPr lang="en-US" sz="3200" b="1" dirty="0"/>
          </a:p>
        </p:txBody>
      </p:sp>
      <p:sp>
        <p:nvSpPr>
          <p:cNvPr id="5" name="TextBox 4"/>
          <p:cNvSpPr txBox="1"/>
          <p:nvPr/>
        </p:nvSpPr>
        <p:spPr>
          <a:xfrm>
            <a:off x="170688" y="5413248"/>
            <a:ext cx="3145536" cy="400110"/>
          </a:xfrm>
          <a:prstGeom prst="rect">
            <a:avLst/>
          </a:prstGeom>
          <a:noFill/>
        </p:spPr>
        <p:txBody>
          <a:bodyPr wrap="square" rtlCol="0">
            <a:spAutoFit/>
          </a:bodyPr>
          <a:lstStyle/>
          <a:p>
            <a:r>
              <a:rPr lang="en-US" sz="2000" b="1" dirty="0" smtClean="0">
                <a:latin typeface="Calibri" panose="020F0502020204030204" pitchFamily="34" charset="0"/>
                <a:cs typeface="Calibri" panose="020F0502020204030204" pitchFamily="34" charset="0"/>
              </a:rPr>
              <a:t>OSARETIN IDIAGBONMWEN</a:t>
            </a:r>
            <a:endParaRPr lang="en-US" sz="2000" b="1" dirty="0">
              <a:latin typeface="Calibri" panose="020F0502020204030204" pitchFamily="34" charset="0"/>
              <a:cs typeface="Calibri" panose="020F0502020204030204" pitchFamily="34" charset="0"/>
            </a:endParaRPr>
          </a:p>
        </p:txBody>
      </p:sp>
      <p:sp>
        <p:nvSpPr>
          <p:cNvPr id="6" name="TextBox 5"/>
          <p:cNvSpPr txBox="1"/>
          <p:nvPr/>
        </p:nvSpPr>
        <p:spPr>
          <a:xfrm>
            <a:off x="170688" y="5813358"/>
            <a:ext cx="2816352" cy="338554"/>
          </a:xfrm>
          <a:prstGeom prst="rect">
            <a:avLst/>
          </a:prstGeom>
          <a:noFill/>
        </p:spPr>
        <p:txBody>
          <a:bodyPr wrap="square" rtlCol="0">
            <a:spAutoFit/>
          </a:bodyPr>
          <a:lstStyle/>
          <a:p>
            <a:r>
              <a:rPr lang="en-US" sz="1600" b="1" dirty="0">
                <a:latin typeface="+mj-lt"/>
                <a:cs typeface="Calibri" panose="020F0502020204030204" pitchFamily="34" charset="0"/>
              </a:rPr>
              <a:t>OCTOBER 2025</a:t>
            </a:r>
          </a:p>
        </p:txBody>
      </p:sp>
    </p:spTree>
    <p:extLst>
      <p:ext uri="{BB962C8B-B14F-4D97-AF65-F5344CB8AC3E}">
        <p14:creationId xmlns:p14="http://schemas.microsoft.com/office/powerpoint/2010/main" val="30799063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328" y="206629"/>
            <a:ext cx="10515600" cy="841883"/>
          </a:xfrm>
        </p:spPr>
        <p:txBody>
          <a:bodyPr>
            <a:normAutofit/>
          </a:bodyPr>
          <a:lstStyle/>
          <a:p>
            <a:r>
              <a:rPr lang="en-US" sz="3200" b="1" dirty="0" smtClean="0">
                <a:latin typeface="Microsoft Sans Serif" panose="020B0604020202020204" pitchFamily="34" charset="0"/>
                <a:ea typeface="Microsoft Sans Serif" panose="020B0604020202020204" pitchFamily="34" charset="0"/>
                <a:cs typeface="Microsoft Sans Serif" panose="020B0604020202020204" pitchFamily="34" charset="0"/>
              </a:rPr>
              <a:t>Table Of Content</a:t>
            </a:r>
            <a:endParaRPr lang="en-US" sz="32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3" name="Content Placeholder 2"/>
          <p:cNvSpPr>
            <a:spLocks noGrp="1"/>
          </p:cNvSpPr>
          <p:nvPr>
            <p:ph idx="1"/>
          </p:nvPr>
        </p:nvSpPr>
        <p:spPr>
          <a:xfrm>
            <a:off x="606552" y="1133856"/>
            <a:ext cx="10515600" cy="4157472"/>
          </a:xfrm>
        </p:spPr>
        <p:txBody>
          <a:bodyPr>
            <a:noAutofit/>
          </a:bodyPr>
          <a:lstStyle/>
          <a:p>
            <a:pPr marL="514350" indent="-514350">
              <a:buFont typeface="+mj-lt"/>
              <a:buAutoNum type="arabicPeriod"/>
            </a:pPr>
            <a:r>
              <a:rPr lang="en-US" sz="2300" dirty="0" smtClean="0">
                <a:cs typeface="Arial" panose="020B0604020202020204" pitchFamily="34" charset="0"/>
                <a:hlinkClick r:id="rId2" action="ppaction://hlinksldjump"/>
              </a:rPr>
              <a:t>Project Overview</a:t>
            </a:r>
            <a:endParaRPr lang="en-US" sz="2300" dirty="0" smtClean="0">
              <a:cs typeface="Arial" panose="020B0604020202020204" pitchFamily="34" charset="0"/>
            </a:endParaRPr>
          </a:p>
          <a:p>
            <a:pPr marL="514350" indent="-514350">
              <a:buFont typeface="+mj-lt"/>
              <a:buAutoNum type="arabicPeriod"/>
            </a:pPr>
            <a:r>
              <a:rPr lang="en-US" sz="2300" dirty="0">
                <a:cs typeface="Arial" panose="020B0604020202020204" pitchFamily="34" charset="0"/>
                <a:hlinkClick r:id="rId3" action="ppaction://hlinksldjump"/>
              </a:rPr>
              <a:t>Executive Summary</a:t>
            </a:r>
            <a:endParaRPr lang="en-US" sz="2300" dirty="0">
              <a:cs typeface="Arial" panose="020B0604020202020204" pitchFamily="34" charset="0"/>
            </a:endParaRPr>
          </a:p>
          <a:p>
            <a:pPr marL="514350" indent="-514350">
              <a:buFont typeface="+mj-lt"/>
              <a:buAutoNum type="arabicPeriod"/>
            </a:pPr>
            <a:r>
              <a:rPr lang="en-US" sz="2300" dirty="0" smtClean="0">
                <a:cs typeface="Arial" panose="020B0604020202020204" pitchFamily="34" charset="0"/>
                <a:hlinkClick r:id="rId4" action="ppaction://hlinksldjump"/>
              </a:rPr>
              <a:t>Data Overview</a:t>
            </a:r>
            <a:endParaRPr lang="en-US" sz="2300" dirty="0" smtClean="0">
              <a:cs typeface="Arial" panose="020B0604020202020204" pitchFamily="34" charset="0"/>
            </a:endParaRPr>
          </a:p>
          <a:p>
            <a:pPr marL="514350" indent="-514350">
              <a:buFont typeface="+mj-lt"/>
              <a:buAutoNum type="arabicPeriod"/>
            </a:pPr>
            <a:r>
              <a:rPr lang="en-US" sz="2300" dirty="0" smtClean="0">
                <a:cs typeface="Arial" panose="020B0604020202020204" pitchFamily="34" charset="0"/>
                <a:hlinkClick r:id="rId5" action="ppaction://hlinksldjump"/>
              </a:rPr>
              <a:t>Workflow Overview</a:t>
            </a:r>
            <a:endParaRPr lang="en-US" sz="2300" dirty="0" smtClean="0">
              <a:cs typeface="Arial" panose="020B0604020202020204" pitchFamily="34" charset="0"/>
            </a:endParaRPr>
          </a:p>
          <a:p>
            <a:pPr marL="514350" indent="-514350">
              <a:buFont typeface="+mj-lt"/>
              <a:buAutoNum type="arabicPeriod"/>
            </a:pPr>
            <a:r>
              <a:rPr lang="en-US" sz="2300" dirty="0" smtClean="0">
                <a:cs typeface="Arial" panose="020B0604020202020204" pitchFamily="34" charset="0"/>
                <a:hlinkClick r:id="rId6" action="ppaction://hlinksldjump"/>
              </a:rPr>
              <a:t>Model </a:t>
            </a:r>
            <a:r>
              <a:rPr lang="en-US" sz="2300" dirty="0" smtClean="0">
                <a:cs typeface="Arial" panose="020B0604020202020204" pitchFamily="34" charset="0"/>
                <a:hlinkClick r:id="rId6" action="ppaction://hlinksldjump"/>
              </a:rPr>
              <a:t>Performance</a:t>
            </a:r>
            <a:endParaRPr lang="en-US" sz="2300" dirty="0" smtClean="0">
              <a:cs typeface="Arial" panose="020B0604020202020204" pitchFamily="34" charset="0"/>
            </a:endParaRPr>
          </a:p>
          <a:p>
            <a:pPr marL="514350" indent="-514350">
              <a:buFont typeface="+mj-lt"/>
              <a:buAutoNum type="arabicPeriod"/>
            </a:pPr>
            <a:r>
              <a:rPr lang="en-US" sz="2300" dirty="0" smtClean="0">
                <a:cs typeface="Arial" panose="020B0604020202020204" pitchFamily="34" charset="0"/>
                <a:hlinkClick r:id="rId7" action="ppaction://hlinksldjump"/>
              </a:rPr>
              <a:t>Business Implications &amp; Strategic Recommendations</a:t>
            </a:r>
            <a:endParaRPr lang="en-US" sz="2300" dirty="0" smtClean="0">
              <a:cs typeface="Arial" panose="020B0604020202020204" pitchFamily="34" charset="0"/>
            </a:endParaRPr>
          </a:p>
          <a:p>
            <a:pPr marL="514350" indent="-514350">
              <a:buFont typeface="+mj-lt"/>
              <a:buAutoNum type="arabicPeriod"/>
            </a:pPr>
            <a:r>
              <a:rPr lang="en-US" sz="2300" dirty="0" smtClean="0">
                <a:cs typeface="Arial" panose="020B0604020202020204" pitchFamily="34" charset="0"/>
                <a:hlinkClick r:id="rId8" action="ppaction://hlinksldjump"/>
              </a:rPr>
              <a:t>Path Forward</a:t>
            </a:r>
            <a:endParaRPr lang="en-US" sz="2300" dirty="0" smtClean="0">
              <a:cs typeface="Arial" panose="020B0604020202020204" pitchFamily="34" charset="0"/>
            </a:endParaRPr>
          </a:p>
          <a:p>
            <a:pPr marL="514350" indent="-514350">
              <a:buFont typeface="+mj-lt"/>
              <a:buAutoNum type="arabicPeriod"/>
            </a:pPr>
            <a:r>
              <a:rPr lang="en-US" sz="2300" dirty="0" smtClean="0">
                <a:cs typeface="Arial" panose="020B0604020202020204" pitchFamily="34" charset="0"/>
                <a:hlinkClick r:id="rId9" action="ppaction://hlinksldjump"/>
              </a:rPr>
              <a:t>Thank </a:t>
            </a:r>
            <a:r>
              <a:rPr lang="en-US" sz="2300" dirty="0" smtClean="0">
                <a:cs typeface="Arial" panose="020B0604020202020204" pitchFamily="34" charset="0"/>
                <a:hlinkClick r:id="rId9" action="ppaction://hlinksldjump"/>
              </a:rPr>
              <a:t>You</a:t>
            </a:r>
            <a:endParaRPr lang="en-US" sz="2300" dirty="0">
              <a:cs typeface="Arial" panose="020B0604020202020204" pitchFamily="34" charset="0"/>
            </a:endParaRPr>
          </a:p>
        </p:txBody>
      </p:sp>
    </p:spTree>
    <p:extLst>
      <p:ext uri="{BB962C8B-B14F-4D97-AF65-F5344CB8AC3E}">
        <p14:creationId xmlns:p14="http://schemas.microsoft.com/office/powerpoint/2010/main" val="9035864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984" y="157861"/>
            <a:ext cx="10515600" cy="573659"/>
          </a:xfrm>
        </p:spPr>
        <p:txBody>
          <a:bodyPr>
            <a:normAutofit/>
          </a:bodyPr>
          <a:lstStyle/>
          <a:p>
            <a:r>
              <a:rPr lang="en-US" sz="2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Project Overview</a:t>
            </a:r>
            <a:endParaRPr lang="en-US" sz="28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3" name="Content Placeholder 2"/>
          <p:cNvSpPr>
            <a:spLocks noGrp="1"/>
          </p:cNvSpPr>
          <p:nvPr>
            <p:ph idx="1"/>
          </p:nvPr>
        </p:nvSpPr>
        <p:spPr>
          <a:xfrm>
            <a:off x="252984" y="816864"/>
            <a:ext cx="11756136" cy="4937759"/>
          </a:xfrm>
        </p:spPr>
        <p:txBody>
          <a:bodyPr>
            <a:noAutofit/>
          </a:bodyPr>
          <a:lstStyle/>
          <a:p>
            <a:pPr marL="0" indent="0">
              <a:lnSpc>
                <a:spcPct val="100000"/>
              </a:lnSpc>
              <a:buNone/>
            </a:pPr>
            <a:r>
              <a:rPr lang="en-US" sz="1400" dirty="0"/>
              <a:t>Online stores lose a </a:t>
            </a:r>
            <a:r>
              <a:rPr lang="en-US" sz="1400" b="1" dirty="0"/>
              <a:t>significant portion</a:t>
            </a:r>
            <a:r>
              <a:rPr lang="en-US" sz="1400" dirty="0"/>
              <a:t> of potential </a:t>
            </a:r>
            <a:r>
              <a:rPr lang="en-US" sz="1400" b="1" dirty="0"/>
              <a:t>revenue</a:t>
            </a:r>
            <a:r>
              <a:rPr lang="en-US" sz="1400" dirty="0"/>
              <a:t> because many shoppers add items to their carts but don’t complete the purchase. This can occur for various reasons, such as hesitation, distractions, or issues during checkout. Each abandoned cart not only means a lost sale but also a </a:t>
            </a:r>
            <a:r>
              <a:rPr lang="en-US" sz="1400" b="1" dirty="0"/>
              <a:t>missed chance </a:t>
            </a:r>
            <a:r>
              <a:rPr lang="en-US" sz="1400" dirty="0"/>
              <a:t>to understand customer behavior. By predicting who might abandon their cart, businesses can act before it happens. They can send personalized reminders, improve the checkout process, or offer time-sensitive discounts to encourage completion</a:t>
            </a:r>
            <a:r>
              <a:rPr lang="en-US" sz="1400" dirty="0" smtClean="0"/>
              <a:t>.</a:t>
            </a:r>
          </a:p>
          <a:p>
            <a:pPr marL="0" indent="0">
              <a:lnSpc>
                <a:spcPct val="100000"/>
              </a:lnSpc>
              <a:buNone/>
            </a:pPr>
            <a:r>
              <a:rPr lang="en-US" sz="1500" b="1" dirty="0" smtClean="0"/>
              <a:t>Project Goal</a:t>
            </a:r>
          </a:p>
          <a:p>
            <a:pPr marL="0" indent="0">
              <a:lnSpc>
                <a:spcPct val="100000"/>
              </a:lnSpc>
              <a:buNone/>
            </a:pPr>
            <a:r>
              <a:rPr lang="en-US" sz="1400" dirty="0"/>
              <a:t>The main goal of this project is to create a </a:t>
            </a:r>
            <a:r>
              <a:rPr lang="en-US" sz="1400" b="1" dirty="0"/>
              <a:t>predictive model </a:t>
            </a:r>
            <a:r>
              <a:rPr lang="en-US" sz="1400" dirty="0"/>
              <a:t>that identifies which customers are most likely to abandon their carts. By using machine learning to analyze customer and behavioral data, the model helps businesses shift from a reactive approach, where they send the same reminder emails to everyone, to a </a:t>
            </a:r>
            <a:r>
              <a:rPr lang="en-US" sz="1400" b="1" dirty="0"/>
              <a:t>proactive strategy </a:t>
            </a:r>
            <a:r>
              <a:rPr lang="en-US" sz="1400" dirty="0"/>
              <a:t>that targets the right customers at the right time</a:t>
            </a:r>
            <a:r>
              <a:rPr lang="en-US" sz="1400" dirty="0" smtClean="0"/>
              <a:t>.</a:t>
            </a:r>
          </a:p>
          <a:p>
            <a:pPr marL="0" indent="0">
              <a:lnSpc>
                <a:spcPct val="100000"/>
              </a:lnSpc>
              <a:buNone/>
            </a:pPr>
            <a:r>
              <a:rPr lang="en-US" sz="1500" b="1" dirty="0" smtClean="0"/>
              <a:t>Core Objectives</a:t>
            </a:r>
          </a:p>
          <a:p>
            <a:pPr marL="0" indent="0">
              <a:lnSpc>
                <a:spcPct val="100000"/>
              </a:lnSpc>
              <a:buNone/>
            </a:pPr>
            <a:r>
              <a:rPr lang="en-US" sz="1400" dirty="0"/>
              <a:t>The project has four key objectives. First, it aims to </a:t>
            </a:r>
            <a:r>
              <a:rPr lang="en-US" sz="1400" b="1" dirty="0"/>
              <a:t>predict cart abandonment</a:t>
            </a:r>
            <a:r>
              <a:rPr lang="en-US" sz="1400" dirty="0"/>
              <a:t> using a supervised classification model that differentiates between completed and abandoned sessions. Second, it seeks to identify the </a:t>
            </a:r>
            <a:r>
              <a:rPr lang="en-US" sz="1400" b="1" dirty="0"/>
              <a:t>main causes of abandonment</a:t>
            </a:r>
            <a:r>
              <a:rPr lang="en-US" sz="1400" dirty="0"/>
              <a:t>, such as how customer demographics, product type, or device usage affect the choice to drop off. The third objective is to convert these insights into </a:t>
            </a:r>
            <a:r>
              <a:rPr lang="en-US" sz="1400" b="1" dirty="0"/>
              <a:t>business actions</a:t>
            </a:r>
            <a:r>
              <a:rPr lang="en-US" sz="1400" dirty="0"/>
              <a:t> by integrating model outputs into Power BI. This will enable teams to create smarter campaigns and interventions. The fourth objective is to </a:t>
            </a:r>
            <a:r>
              <a:rPr lang="en-US" sz="1400" b="1" dirty="0"/>
              <a:t>assess performance</a:t>
            </a:r>
            <a:r>
              <a:rPr lang="en-US" sz="1400" dirty="0"/>
              <a:t> using accuracy, precision, recall, and F1-score, with a particular focus on recall. The goal is to capture as many potential abandoners as possible</a:t>
            </a:r>
            <a:r>
              <a:rPr lang="en-US" sz="1400" dirty="0" smtClean="0"/>
              <a:t>.</a:t>
            </a:r>
          </a:p>
          <a:p>
            <a:pPr marL="0" indent="0">
              <a:lnSpc>
                <a:spcPct val="100000"/>
              </a:lnSpc>
              <a:buNone/>
            </a:pPr>
            <a:r>
              <a:rPr lang="en-US" sz="1500" b="1" dirty="0" smtClean="0"/>
              <a:t>Business Impact</a:t>
            </a:r>
          </a:p>
          <a:p>
            <a:pPr marL="0" indent="0">
              <a:lnSpc>
                <a:spcPct val="100000"/>
              </a:lnSpc>
              <a:buNone/>
            </a:pPr>
            <a:r>
              <a:rPr lang="en-US" sz="1400" dirty="0"/>
              <a:t>This project has a measurable impact on the e-commerce workflow. It helps reduce cart abandonment through data-driven actions, allowing marketing teams to concentrate on high-risk, high-value customers. It also boosts conversion rates and improves resource allocation by making retention campaigns more effective. Lastly, it provides leadership with clear, visual insights into shopping behavior and abandonment trends. This information guides both marketing and product decisions with confidence.</a:t>
            </a:r>
          </a:p>
        </p:txBody>
      </p:sp>
    </p:spTree>
    <p:extLst>
      <p:ext uri="{BB962C8B-B14F-4D97-AF65-F5344CB8AC3E}">
        <p14:creationId xmlns:p14="http://schemas.microsoft.com/office/powerpoint/2010/main" val="16909123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2984" y="651104"/>
            <a:ext cx="11670792" cy="1917090"/>
          </a:xfrm>
        </p:spPr>
        <p:txBody>
          <a:bodyPr>
            <a:noAutofit/>
          </a:bodyPr>
          <a:lstStyle/>
          <a:p>
            <a:pPr marL="0" indent="0">
              <a:lnSpc>
                <a:spcPct val="100000"/>
              </a:lnSpc>
              <a:buNone/>
            </a:pPr>
            <a:r>
              <a:rPr lang="en-US" sz="1400" dirty="0" smtClean="0"/>
              <a:t>This section summarizes </a:t>
            </a:r>
            <a:r>
              <a:rPr lang="en-US" sz="1400" b="1" dirty="0" smtClean="0"/>
              <a:t>key findings </a:t>
            </a:r>
            <a:r>
              <a:rPr lang="en-US" sz="1400" dirty="0" smtClean="0"/>
              <a:t>through a combination of machine learning predictions and behavioral analytics that help understand from which sources </a:t>
            </a:r>
            <a:r>
              <a:rPr lang="en-US" sz="1400" b="1" dirty="0" smtClean="0"/>
              <a:t>value is lost </a:t>
            </a:r>
            <a:r>
              <a:rPr lang="en-US" sz="1400" dirty="0" smtClean="0"/>
              <a:t>and what </a:t>
            </a:r>
            <a:r>
              <a:rPr lang="en-US" sz="1400" b="1" dirty="0" smtClean="0"/>
              <a:t>specific interventions </a:t>
            </a:r>
            <a:r>
              <a:rPr lang="en-US" sz="1400" dirty="0" smtClean="0"/>
              <a:t>can recover it. The analysis was developed to move beyond raw metrics, turning model outputs and user behavior patterns into clear, </a:t>
            </a:r>
            <a:r>
              <a:rPr lang="en-US" sz="1400" b="1" dirty="0" smtClean="0"/>
              <a:t>actionable strategies</a:t>
            </a:r>
            <a:r>
              <a:rPr lang="en-US" sz="1400" dirty="0" smtClean="0"/>
              <a:t> that marketing teams can apply with confidence.</a:t>
            </a:r>
          </a:p>
          <a:p>
            <a:pPr marL="0" indent="0">
              <a:lnSpc>
                <a:spcPct val="100000"/>
              </a:lnSpc>
              <a:buNone/>
            </a:pPr>
            <a:r>
              <a:rPr lang="en-US" sz="1400" dirty="0"/>
              <a:t>This analysis draws on a test sample of </a:t>
            </a:r>
            <a:r>
              <a:rPr lang="en-US" sz="1400" b="1" dirty="0"/>
              <a:t>750 transactions</a:t>
            </a:r>
            <a:r>
              <a:rPr lang="en-US" sz="1400" dirty="0"/>
              <a:t>, taken from the larger customer dataset used to train the model. Using a supervised classification approach, it predicts the likelihood that a user will complete a purchase or abandon their cart. Combined with Power BI visuals, the results highlight both the </a:t>
            </a:r>
            <a:r>
              <a:rPr lang="en-US" sz="1400" b="1" dirty="0"/>
              <a:t>patterns</a:t>
            </a:r>
            <a:r>
              <a:rPr lang="en-US" sz="1400" dirty="0"/>
              <a:t> behind cart abandonment and the </a:t>
            </a:r>
            <a:r>
              <a:rPr lang="en-US" sz="1400" b="1" dirty="0"/>
              <a:t>main drivers</a:t>
            </a:r>
            <a:r>
              <a:rPr lang="en-US" sz="1400" dirty="0"/>
              <a:t> influencing customer behavior. The insights move the business from reactive follow-ups to proactive, data-driven engagement that helps prevent drop-offs before they happen.</a:t>
            </a:r>
            <a:endParaRPr lang="en-US" sz="1400" dirty="0" smtClean="0"/>
          </a:p>
        </p:txBody>
      </p:sp>
      <p:sp>
        <p:nvSpPr>
          <p:cNvPr id="5" name="Title 1"/>
          <p:cNvSpPr txBox="1">
            <a:spLocks/>
          </p:cNvSpPr>
          <p:nvPr/>
        </p:nvSpPr>
        <p:spPr>
          <a:xfrm>
            <a:off x="252984" y="174981"/>
            <a:ext cx="10515600" cy="4761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latin typeface="Microsoft Sans Serif" panose="020B0604020202020204" pitchFamily="34" charset="0"/>
                <a:ea typeface="Microsoft Sans Serif" panose="020B0604020202020204" pitchFamily="34" charset="0"/>
                <a:cs typeface="Microsoft Sans Serif" panose="020B0604020202020204" pitchFamily="34" charset="0"/>
              </a:rPr>
              <a:t>E</a:t>
            </a:r>
            <a:r>
              <a:rPr lang="en-US" sz="2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xecutive </a:t>
            </a:r>
            <a:r>
              <a:rPr lang="en-US" sz="2800" dirty="0">
                <a:latin typeface="Microsoft Sans Serif" panose="020B0604020202020204" pitchFamily="34" charset="0"/>
                <a:ea typeface="Microsoft Sans Serif" panose="020B0604020202020204" pitchFamily="34" charset="0"/>
                <a:cs typeface="Microsoft Sans Serif" panose="020B0604020202020204" pitchFamily="34" charset="0"/>
              </a:rPr>
              <a:t>S</a:t>
            </a:r>
            <a:r>
              <a:rPr lang="en-US" sz="2800" dirty="0" smtClean="0">
                <a:latin typeface="Microsoft Sans Serif" panose="020B0604020202020204" pitchFamily="34" charset="0"/>
                <a:ea typeface="Microsoft Sans Serif" panose="020B0604020202020204" pitchFamily="34" charset="0"/>
                <a:cs typeface="Microsoft Sans Serif" panose="020B0604020202020204" pitchFamily="34" charset="0"/>
              </a:rPr>
              <a:t>ummary</a:t>
            </a:r>
            <a:endParaRPr lang="en-US" sz="28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100602627"/>
              </p:ext>
            </p:extLst>
          </p:nvPr>
        </p:nvGraphicFramePr>
        <p:xfrm>
          <a:off x="252985" y="2737181"/>
          <a:ext cx="11670791" cy="3844234"/>
        </p:xfrm>
        <a:graphic>
          <a:graphicData uri="http://schemas.openxmlformats.org/drawingml/2006/table">
            <a:tbl>
              <a:tblPr firstRow="1" bandRow="1">
                <a:tableStyleId>{5C22544A-7EE6-4342-B048-85BDC9FD1C3A}</a:tableStyleId>
              </a:tblPr>
              <a:tblGrid>
                <a:gridCol w="1612391">
                  <a:extLst>
                    <a:ext uri="{9D8B030D-6E8A-4147-A177-3AD203B41FA5}">
                      <a16:colId xmlns:a16="http://schemas.microsoft.com/office/drawing/2014/main" val="3811835369"/>
                    </a:ext>
                  </a:extLst>
                </a:gridCol>
                <a:gridCol w="914400">
                  <a:extLst>
                    <a:ext uri="{9D8B030D-6E8A-4147-A177-3AD203B41FA5}">
                      <a16:colId xmlns:a16="http://schemas.microsoft.com/office/drawing/2014/main" val="368650050"/>
                    </a:ext>
                  </a:extLst>
                </a:gridCol>
                <a:gridCol w="9144000">
                  <a:extLst>
                    <a:ext uri="{9D8B030D-6E8A-4147-A177-3AD203B41FA5}">
                      <a16:colId xmlns:a16="http://schemas.microsoft.com/office/drawing/2014/main" val="523482075"/>
                    </a:ext>
                  </a:extLst>
                </a:gridCol>
              </a:tblGrid>
              <a:tr h="253923">
                <a:tc>
                  <a:txBody>
                    <a:bodyPr/>
                    <a:lstStyle/>
                    <a:p>
                      <a:r>
                        <a:rPr lang="en-US" sz="1400" dirty="0" smtClean="0"/>
                        <a:t>KPI</a:t>
                      </a:r>
                      <a:endParaRPr lang="en-US" sz="1400" dirty="0"/>
                    </a:p>
                  </a:txBody>
                  <a:tcPr/>
                </a:tc>
                <a:tc>
                  <a:txBody>
                    <a:bodyPr/>
                    <a:lstStyle/>
                    <a:p>
                      <a:r>
                        <a:rPr lang="en-US" sz="1400" dirty="0" smtClean="0"/>
                        <a:t>Value</a:t>
                      </a:r>
                      <a:endParaRPr lang="en-US" sz="1400" dirty="0"/>
                    </a:p>
                  </a:txBody>
                  <a:tcPr/>
                </a:tc>
                <a:tc>
                  <a:txBody>
                    <a:bodyPr/>
                    <a:lstStyle/>
                    <a:p>
                      <a:r>
                        <a:rPr lang="en-US" sz="1400" dirty="0" smtClean="0"/>
                        <a:t>Interpretation</a:t>
                      </a:r>
                      <a:endParaRPr lang="en-US" sz="1400" dirty="0"/>
                    </a:p>
                  </a:txBody>
                  <a:tcPr/>
                </a:tc>
                <a:extLst>
                  <a:ext uri="{0D108BD9-81ED-4DB2-BD59-A6C34878D82A}">
                    <a16:rowId xmlns:a16="http://schemas.microsoft.com/office/drawing/2014/main" val="2777331092"/>
                  </a:ext>
                </a:extLst>
              </a:tr>
              <a:tr h="558723">
                <a:tc>
                  <a:txBody>
                    <a:bodyPr/>
                    <a:lstStyle/>
                    <a:p>
                      <a:r>
                        <a:rPr lang="en-US" sz="1400" dirty="0" smtClean="0"/>
                        <a:t>Total Transactions</a:t>
                      </a:r>
                      <a:endParaRPr lang="en-US" sz="1400" dirty="0"/>
                    </a:p>
                  </a:txBody>
                  <a:tcPr/>
                </a:tc>
                <a:tc>
                  <a:txBody>
                    <a:bodyPr/>
                    <a:lstStyle/>
                    <a:p>
                      <a:r>
                        <a:rPr lang="en-US" sz="1400" dirty="0" smtClean="0"/>
                        <a:t>750</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smtClean="0"/>
                        <a:t>This represents the total number of customer sessions analyzed across different cities, devices, and user groups. It provides a solid foundation for identifying consistent behavioral patterns, rather than isolated or one-off actions.</a:t>
                      </a:r>
                      <a:endParaRPr lang="en-US" sz="1400" dirty="0"/>
                    </a:p>
                  </a:txBody>
                  <a:tcPr/>
                </a:tc>
                <a:extLst>
                  <a:ext uri="{0D108BD9-81ED-4DB2-BD59-A6C34878D82A}">
                    <a16:rowId xmlns:a16="http://schemas.microsoft.com/office/drawing/2014/main" val="149821358"/>
                  </a:ext>
                </a:extLst>
              </a:tr>
              <a:tr h="534339">
                <a:tc>
                  <a:txBody>
                    <a:bodyPr/>
                    <a:lstStyle/>
                    <a:p>
                      <a:r>
                        <a:rPr lang="en-US" sz="1400" dirty="0" smtClean="0"/>
                        <a:t>Average Abandonment Risk</a:t>
                      </a:r>
                      <a:endParaRPr lang="en-US" sz="1400" dirty="0"/>
                    </a:p>
                  </a:txBody>
                  <a:tcPr/>
                </a:tc>
                <a:tc>
                  <a:txBody>
                    <a:bodyPr/>
                    <a:lstStyle/>
                    <a:p>
                      <a:r>
                        <a:rPr lang="en-US" sz="1400" dirty="0" smtClean="0"/>
                        <a:t>0.50</a:t>
                      </a:r>
                      <a:endParaRPr lang="en-US" sz="1400" dirty="0"/>
                    </a:p>
                  </a:txBody>
                  <a:tcPr/>
                </a:tc>
                <a:tc>
                  <a:txBody>
                    <a:bodyPr/>
                    <a:lstStyle/>
                    <a:p>
                      <a:r>
                        <a:rPr lang="en-US" sz="1400" dirty="0" smtClean="0"/>
                        <a:t>On average, there is a 50 percent chance that a visitor will abandon their cart before completing checkout. This figure signals that while engagement is healthy, friction or hesitation still affects a large share of potential buyers.</a:t>
                      </a:r>
                      <a:endParaRPr lang="en-US" sz="1400" dirty="0"/>
                    </a:p>
                  </a:txBody>
                  <a:tcPr/>
                </a:tc>
                <a:extLst>
                  <a:ext uri="{0D108BD9-81ED-4DB2-BD59-A6C34878D82A}">
                    <a16:rowId xmlns:a16="http://schemas.microsoft.com/office/drawing/2014/main" val="1709600848"/>
                  </a:ext>
                </a:extLst>
              </a:tr>
              <a:tr h="560832">
                <a:tc>
                  <a:txBody>
                    <a:bodyPr/>
                    <a:lstStyle/>
                    <a:p>
                      <a:r>
                        <a:rPr lang="en-US" sz="1400" dirty="0" smtClean="0"/>
                        <a:t>Predicted Abandonment Rate</a:t>
                      </a:r>
                      <a:endParaRPr lang="en-US" sz="1400" dirty="0"/>
                    </a:p>
                  </a:txBody>
                  <a:tcPr/>
                </a:tc>
                <a:tc>
                  <a:txBody>
                    <a:bodyPr/>
                    <a:lstStyle/>
                    <a:p>
                      <a:r>
                        <a:rPr lang="en-US" sz="1400" dirty="0" smtClean="0"/>
                        <a:t>0.72</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smtClean="0"/>
                        <a:t>The model predicts that approximately 72 percent of future sessions may be abandoned. Although higher than the historical rate, this over prediction is </a:t>
                      </a:r>
                      <a:r>
                        <a:rPr lang="en-US" sz="1400" dirty="0" smtClean="0"/>
                        <a:t>intentional</a:t>
                      </a:r>
                      <a:r>
                        <a:rPr lang="en-US" sz="1400" baseline="0" dirty="0" smtClean="0"/>
                        <a:t> </a:t>
                      </a:r>
                      <a:r>
                        <a:rPr lang="en-US" sz="1400" dirty="0" err="1" smtClean="0"/>
                        <a:t>favouring</a:t>
                      </a:r>
                      <a:r>
                        <a:rPr lang="en-US" sz="1400" baseline="0" dirty="0" smtClean="0"/>
                        <a:t> </a:t>
                      </a:r>
                      <a:r>
                        <a:rPr lang="en-US" sz="1400" dirty="0" smtClean="0"/>
                        <a:t>recall </a:t>
                      </a:r>
                      <a:r>
                        <a:rPr lang="en-US" sz="1400" dirty="0" smtClean="0"/>
                        <a:t>to ensure fewer abandoners are missed.</a:t>
                      </a:r>
                    </a:p>
                  </a:txBody>
                  <a:tcPr/>
                </a:tc>
                <a:extLst>
                  <a:ext uri="{0D108BD9-81ED-4DB2-BD59-A6C34878D82A}">
                    <a16:rowId xmlns:a16="http://schemas.microsoft.com/office/drawing/2014/main" val="45851960"/>
                  </a:ext>
                </a:extLst>
              </a:tr>
              <a:tr h="450401">
                <a:tc>
                  <a:txBody>
                    <a:bodyPr/>
                    <a:lstStyle/>
                    <a:p>
                      <a:r>
                        <a:rPr lang="en-US" sz="1400" dirty="0" smtClean="0"/>
                        <a:t>Actual Abandonment Rate</a:t>
                      </a:r>
                      <a:endParaRPr lang="en-US" sz="1400" dirty="0"/>
                    </a:p>
                  </a:txBody>
                  <a:tcPr/>
                </a:tc>
                <a:tc>
                  <a:txBody>
                    <a:bodyPr/>
                    <a:lstStyle/>
                    <a:p>
                      <a:r>
                        <a:rPr lang="en-US" sz="1400" dirty="0" smtClean="0"/>
                        <a:t>0.51</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smtClean="0"/>
                        <a:t>The historical record reveals that half of all customer sessions ended in abandonment, indicating the magnitude of the challenge and the model's relevance to real-world conditions.</a:t>
                      </a:r>
                    </a:p>
                  </a:txBody>
                  <a:tcPr/>
                </a:tc>
                <a:extLst>
                  <a:ext uri="{0D108BD9-81ED-4DB2-BD59-A6C34878D82A}">
                    <a16:rowId xmlns:a16="http://schemas.microsoft.com/office/drawing/2014/main" val="1108031717"/>
                  </a:ext>
                </a:extLst>
              </a:tr>
              <a:tr h="635860">
                <a:tc>
                  <a:txBody>
                    <a:bodyPr/>
                    <a:lstStyle/>
                    <a:p>
                      <a:r>
                        <a:rPr lang="en-US" sz="1400" dirty="0" smtClean="0"/>
                        <a:t>Model Accuracy</a:t>
                      </a:r>
                      <a:endParaRPr lang="en-US" sz="1400" dirty="0"/>
                    </a:p>
                  </a:txBody>
                  <a:tcPr/>
                </a:tc>
                <a:tc>
                  <a:txBody>
                    <a:bodyPr/>
                    <a:lstStyle/>
                    <a:p>
                      <a:r>
                        <a:rPr lang="en-US" sz="1400" dirty="0" smtClean="0"/>
                        <a:t>0.51</a:t>
                      </a:r>
                      <a:endParaRPr lang="en-US" sz="1400" dirty="0"/>
                    </a:p>
                  </a:txBody>
                  <a:tcPr/>
                </a:tc>
                <a:tc>
                  <a:txBody>
                    <a:bodyPr/>
                    <a:lstStyle/>
                    <a:p>
                      <a:pPr marL="0" indent="0">
                        <a:buNone/>
                      </a:pPr>
                      <a:r>
                        <a:rPr lang="en-US" sz="1400" dirty="0" smtClean="0"/>
                        <a:t>The model identifies a little more than half of all outcomes correctly, which is good given the complexity of customer behavior. The strong recall of 0.72 is especially valuable, whereby the majority of true abandoners are captured for early intervention.</a:t>
                      </a:r>
                    </a:p>
                  </a:txBody>
                  <a:tcPr/>
                </a:tc>
                <a:extLst>
                  <a:ext uri="{0D108BD9-81ED-4DB2-BD59-A6C34878D82A}">
                    <a16:rowId xmlns:a16="http://schemas.microsoft.com/office/drawing/2014/main" val="3125539124"/>
                  </a:ext>
                </a:extLst>
              </a:tr>
              <a:tr h="635860">
                <a:tc>
                  <a:txBody>
                    <a:bodyPr/>
                    <a:lstStyle/>
                    <a:p>
                      <a:r>
                        <a:rPr lang="en-US" sz="1400" dirty="0" smtClean="0"/>
                        <a:t>High-Value Customer Share</a:t>
                      </a:r>
                      <a:endParaRPr lang="en-US" sz="1400" dirty="0"/>
                    </a:p>
                  </a:txBody>
                  <a:tcPr/>
                </a:tc>
                <a:tc>
                  <a:txBody>
                    <a:bodyPr/>
                    <a:lstStyle/>
                    <a:p>
                      <a:r>
                        <a:rPr lang="en-US" sz="1400" dirty="0" smtClean="0"/>
                        <a:t>0.25</a:t>
                      </a:r>
                      <a:endParaRPr lang="en-US" sz="1400" dirty="0"/>
                    </a:p>
                  </a:txBody>
                  <a:tcPr/>
                </a:tc>
                <a:tc>
                  <a:txBody>
                    <a:bodyPr/>
                    <a:lstStyle/>
                    <a:p>
                      <a:pPr marL="0" indent="0">
                        <a:buNone/>
                      </a:pPr>
                      <a:r>
                        <a:rPr lang="en-US" sz="1400" dirty="0" smtClean="0"/>
                        <a:t>One in four customers is a high-value customer, where even minor improvements in retention or engagement drive outsized revenue impact. This insight suggests that predictive targeting could produce substantial ROI if focused on these users.</a:t>
                      </a:r>
                    </a:p>
                  </a:txBody>
                  <a:tcPr/>
                </a:tc>
                <a:extLst>
                  <a:ext uri="{0D108BD9-81ED-4DB2-BD59-A6C34878D82A}">
                    <a16:rowId xmlns:a16="http://schemas.microsoft.com/office/drawing/2014/main" val="2210636952"/>
                  </a:ext>
                </a:extLst>
              </a:tr>
            </a:tbl>
          </a:graphicData>
        </a:graphic>
      </p:graphicFrame>
      <p:sp>
        <p:nvSpPr>
          <p:cNvPr id="2" name="TextBox 1"/>
          <p:cNvSpPr txBox="1"/>
          <p:nvPr/>
        </p:nvSpPr>
        <p:spPr>
          <a:xfrm>
            <a:off x="252984" y="2414016"/>
            <a:ext cx="1490472" cy="323165"/>
          </a:xfrm>
          <a:prstGeom prst="rect">
            <a:avLst/>
          </a:prstGeom>
          <a:noFill/>
        </p:spPr>
        <p:txBody>
          <a:bodyPr wrap="square" rtlCol="0">
            <a:spAutoFit/>
          </a:bodyPr>
          <a:lstStyle/>
          <a:p>
            <a:r>
              <a:rPr lang="en-US" sz="1500" b="1" dirty="0" smtClean="0"/>
              <a:t>Overview of KPI</a:t>
            </a:r>
            <a:endParaRPr lang="en-US" sz="1500" b="1" dirty="0"/>
          </a:p>
        </p:txBody>
      </p:sp>
    </p:spTree>
    <p:extLst>
      <p:ext uri="{BB962C8B-B14F-4D97-AF65-F5344CB8AC3E}">
        <p14:creationId xmlns:p14="http://schemas.microsoft.com/office/powerpoint/2010/main" val="26054635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1064" y="426307"/>
            <a:ext cx="11939016" cy="492847"/>
          </a:xfrm>
        </p:spPr>
        <p:txBody>
          <a:bodyPr>
            <a:noAutofit/>
          </a:bodyPr>
          <a:lstStyle/>
          <a:p>
            <a:pPr marL="0" indent="0">
              <a:lnSpc>
                <a:spcPct val="100000"/>
              </a:lnSpc>
              <a:buNone/>
            </a:pPr>
            <a:r>
              <a:rPr lang="en-US" sz="1400" dirty="0" smtClean="0"/>
              <a:t>The KPIs show a clear opportunity to reduce abandonment risk through targeted action. With a </a:t>
            </a:r>
            <a:r>
              <a:rPr lang="en-US" sz="1400" b="1" dirty="0" smtClean="0"/>
              <a:t>recall-oriented model</a:t>
            </a:r>
            <a:r>
              <a:rPr lang="en-US" sz="1400" dirty="0" smtClean="0"/>
              <a:t> and predictive accuracy in line with business goals, the organization can identify high-risk sessions early and intervene </a:t>
            </a:r>
            <a:r>
              <a:rPr lang="en-US" sz="1400" dirty="0" smtClean="0"/>
              <a:t>especially </a:t>
            </a:r>
            <a:r>
              <a:rPr lang="en-US" sz="1400" dirty="0" smtClean="0"/>
              <a:t>among high-value customers where every recovery counts</a:t>
            </a:r>
            <a:r>
              <a:rPr lang="en-US" sz="1400" dirty="0" smtClean="0"/>
              <a:t>.</a:t>
            </a:r>
            <a:endParaRPr lang="en-US" sz="1400" dirty="0" smtClean="0"/>
          </a:p>
          <a:p>
            <a:pPr marL="0" indent="0">
              <a:lnSpc>
                <a:spcPct val="100000"/>
              </a:lnSpc>
              <a:buNone/>
            </a:pPr>
            <a:endParaRPr lang="en-US" sz="1400" dirty="0"/>
          </a:p>
        </p:txBody>
      </p:sp>
      <p:sp>
        <p:nvSpPr>
          <p:cNvPr id="6" name="TextBox 5"/>
          <p:cNvSpPr txBox="1"/>
          <p:nvPr/>
        </p:nvSpPr>
        <p:spPr>
          <a:xfrm>
            <a:off x="131064" y="1002015"/>
            <a:ext cx="7537704" cy="2723823"/>
          </a:xfrm>
          <a:prstGeom prst="rect">
            <a:avLst/>
          </a:prstGeom>
          <a:noFill/>
        </p:spPr>
        <p:txBody>
          <a:bodyPr wrap="square" rtlCol="0">
            <a:spAutoFit/>
          </a:bodyPr>
          <a:lstStyle/>
          <a:p>
            <a:r>
              <a:rPr lang="en-US" sz="1500" b="1" dirty="0"/>
              <a:t>Key Insights from the Dashboard Visuals</a:t>
            </a:r>
          </a:p>
          <a:p>
            <a:endParaRPr lang="en-US" sz="1500" dirty="0"/>
          </a:p>
          <a:p>
            <a:r>
              <a:rPr lang="en-US" sz="1500" b="1" dirty="0"/>
              <a:t>1.    City-Level Trends</a:t>
            </a:r>
          </a:p>
          <a:p>
            <a:endParaRPr lang="en-US" sz="1400" dirty="0" smtClean="0"/>
          </a:p>
          <a:p>
            <a:r>
              <a:rPr lang="en-US" sz="1400" dirty="0" smtClean="0"/>
              <a:t>The </a:t>
            </a:r>
            <a:r>
              <a:rPr lang="en-US" sz="1400" dirty="0"/>
              <a:t>analysis highlights that some cities have much higher predicted abandonment rates. London stands out as the most at-risk, followed by Berlin and Mumbai. These locations show consistently high abandonment probabilities, suggesting the presence of </a:t>
            </a:r>
            <a:r>
              <a:rPr lang="en-US" sz="1400" b="1" dirty="0"/>
              <a:t>regional factors </a:t>
            </a:r>
            <a:r>
              <a:rPr lang="en-US" sz="1400" dirty="0"/>
              <a:t>such as delivery concerns, pricing competitiveness, or local trust barriers during checkout.</a:t>
            </a:r>
          </a:p>
          <a:p>
            <a:r>
              <a:rPr lang="en-US" sz="1400" dirty="0"/>
              <a:t>These cities represent the most </a:t>
            </a:r>
            <a:r>
              <a:rPr lang="en-US" sz="1400" b="1" dirty="0"/>
              <a:t>immediate opportunity </a:t>
            </a:r>
            <a:r>
              <a:rPr lang="en-US" sz="1400" dirty="0"/>
              <a:t>for targeted intervention. By providing personalized offers, running localized campaigns, or improving shipping transparency, this can directly lower abandonment in these areas, driving measurable improvements in both conversion rate and revenue performance</a:t>
            </a:r>
            <a:r>
              <a:rPr lang="en-US" sz="1400" dirty="0" smtClean="0"/>
              <a:t>.</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1232" y="1219200"/>
            <a:ext cx="4344762" cy="2767584"/>
          </a:xfrm>
          <a:prstGeom prst="rect">
            <a:avLst/>
          </a:prstGeom>
        </p:spPr>
      </p:pic>
      <p:sp>
        <p:nvSpPr>
          <p:cNvPr id="10" name="TextBox 9"/>
          <p:cNvSpPr txBox="1"/>
          <p:nvPr/>
        </p:nvSpPr>
        <p:spPr>
          <a:xfrm>
            <a:off x="131064" y="3972414"/>
            <a:ext cx="7537704" cy="2308324"/>
          </a:xfrm>
          <a:prstGeom prst="rect">
            <a:avLst/>
          </a:prstGeom>
          <a:noFill/>
        </p:spPr>
        <p:txBody>
          <a:bodyPr wrap="square" rtlCol="0">
            <a:spAutoFit/>
          </a:bodyPr>
          <a:lstStyle/>
          <a:p>
            <a:r>
              <a:rPr lang="en-US" sz="1500" b="1" dirty="0" smtClean="0"/>
              <a:t>2.    Device </a:t>
            </a:r>
            <a:r>
              <a:rPr lang="en-US" sz="1500" b="1" dirty="0" smtClean="0"/>
              <a:t>and Gender Patterns</a:t>
            </a:r>
            <a:endParaRPr lang="en-US" sz="1500" dirty="0" smtClean="0"/>
          </a:p>
          <a:p>
            <a:endParaRPr lang="en-US" sz="1500" dirty="0"/>
          </a:p>
          <a:p>
            <a:r>
              <a:rPr lang="en-US" sz="1400" b="1" dirty="0" smtClean="0"/>
              <a:t>Mobile </a:t>
            </a:r>
            <a:r>
              <a:rPr lang="en-US" sz="1400" b="1" dirty="0" smtClean="0"/>
              <a:t>devices</a:t>
            </a:r>
            <a:r>
              <a:rPr lang="en-US" sz="1400" dirty="0" smtClean="0"/>
              <a:t> have the highest abandonment rates overall, and within that, </a:t>
            </a:r>
            <a:r>
              <a:rPr lang="en-US" sz="1400" b="1" dirty="0" smtClean="0"/>
              <a:t>women are more likely to have drop-off compared to men</a:t>
            </a:r>
            <a:r>
              <a:rPr lang="en-US" sz="1400" dirty="0" smtClean="0"/>
              <a:t>. On mobile, abandonment for females is at an average of 0.79 versus 0.66 for males, while on desktop, the difference remains notable: 0.75 versus 0.62.</a:t>
            </a:r>
          </a:p>
          <a:p>
            <a:r>
              <a:rPr lang="en-US" sz="1400" dirty="0" smtClean="0"/>
              <a:t>These differences likely reflect variations in user experience, screen design, or checkout friction on smaller devices. Improving mobile navigation, simplifying payment flows, and testing trust-building messages aimed at female users could yield rapid gains. Since mobile commerce drives the majority of traffic, optimization here </a:t>
            </a:r>
            <a:r>
              <a:rPr lang="en-US" sz="1400" dirty="0" smtClean="0"/>
              <a:t>will have a direct </a:t>
            </a:r>
            <a:r>
              <a:rPr lang="en-US" sz="1400" dirty="0" smtClean="0"/>
              <a:t>link to improved revenue.</a:t>
            </a:r>
          </a:p>
          <a:p>
            <a:endParaRPr lang="en-US" sz="15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1232" y="4069645"/>
            <a:ext cx="4344762" cy="2788355"/>
          </a:xfrm>
          <a:prstGeom prst="rect">
            <a:avLst/>
          </a:prstGeom>
        </p:spPr>
      </p:pic>
    </p:spTree>
    <p:extLst>
      <p:ext uri="{BB962C8B-B14F-4D97-AF65-F5344CB8AC3E}">
        <p14:creationId xmlns:p14="http://schemas.microsoft.com/office/powerpoint/2010/main" val="31882768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448" y="191896"/>
            <a:ext cx="7123176" cy="2746375"/>
          </a:xfrm>
          <a:prstGeom prst="rect">
            <a:avLst/>
          </a:prstGeom>
        </p:spPr>
      </p:pic>
      <p:sp>
        <p:nvSpPr>
          <p:cNvPr id="7" name="TextBox 6"/>
          <p:cNvSpPr txBox="1"/>
          <p:nvPr/>
        </p:nvSpPr>
        <p:spPr>
          <a:xfrm>
            <a:off x="7388352" y="191896"/>
            <a:ext cx="4693920" cy="2893100"/>
          </a:xfrm>
          <a:prstGeom prst="rect">
            <a:avLst/>
          </a:prstGeom>
          <a:noFill/>
        </p:spPr>
        <p:txBody>
          <a:bodyPr wrap="square" rtlCol="0">
            <a:spAutoFit/>
          </a:bodyPr>
          <a:lstStyle/>
          <a:p>
            <a:r>
              <a:rPr lang="en-US" sz="1500" b="1" dirty="0" smtClean="0"/>
              <a:t>3.    Behavioral Timing</a:t>
            </a:r>
          </a:p>
          <a:p>
            <a:endParaRPr lang="en-US" sz="1400" b="1" dirty="0" smtClean="0"/>
          </a:p>
          <a:p>
            <a:r>
              <a:rPr lang="en-US" sz="1400" dirty="0" smtClean="0"/>
              <a:t>Weekly patterns are indicative of increased abandonment risk in midweek, peaking on Thursdays. This may be due to </a:t>
            </a:r>
            <a:r>
              <a:rPr lang="en-US" sz="1400" b="1" dirty="0" smtClean="0"/>
              <a:t>decreased purchase intent</a:t>
            </a:r>
            <a:r>
              <a:rPr lang="en-US" sz="1400" dirty="0" smtClean="0"/>
              <a:t> or simply other distractions on workdays.</a:t>
            </a:r>
          </a:p>
          <a:p>
            <a:endParaRPr lang="en-US" sz="1400" dirty="0" smtClean="0"/>
          </a:p>
          <a:p>
            <a:r>
              <a:rPr lang="en-US" sz="1400" dirty="0" smtClean="0"/>
              <a:t>This is where </a:t>
            </a:r>
            <a:r>
              <a:rPr lang="en-US" sz="1400" b="1" dirty="0" smtClean="0"/>
              <a:t>timing-based interventions</a:t>
            </a:r>
            <a:r>
              <a:rPr lang="en-US" sz="1400" dirty="0" smtClean="0"/>
              <a:t> might help, for example, running Thursday evening retargeting campaigns or making midweek offers to capture users who dropped off in the earlier part of the day. By linking marketing actions with behavioral rhythm, engagement gets more natural and conversion more likely.</a:t>
            </a:r>
          </a:p>
        </p:txBody>
      </p:sp>
      <p:sp>
        <p:nvSpPr>
          <p:cNvPr id="6" name="TextBox 5"/>
          <p:cNvSpPr txBox="1"/>
          <p:nvPr/>
        </p:nvSpPr>
        <p:spPr>
          <a:xfrm>
            <a:off x="155448" y="3054218"/>
            <a:ext cx="4458182" cy="2062103"/>
          </a:xfrm>
          <a:prstGeom prst="rect">
            <a:avLst/>
          </a:prstGeom>
          <a:noFill/>
        </p:spPr>
        <p:txBody>
          <a:bodyPr wrap="square" rtlCol="0">
            <a:spAutoFit/>
          </a:bodyPr>
          <a:lstStyle/>
          <a:p>
            <a:r>
              <a:rPr lang="en-US" sz="1500" b="1" dirty="0" smtClean="0"/>
              <a:t>4.    Predictive </a:t>
            </a:r>
            <a:r>
              <a:rPr lang="en-US" sz="1500" b="1" dirty="0"/>
              <a:t>Validation Over Time</a:t>
            </a:r>
          </a:p>
          <a:p>
            <a:endParaRPr lang="en-US" sz="1500" dirty="0"/>
          </a:p>
          <a:p>
            <a:r>
              <a:rPr lang="en-US" sz="1400" dirty="0"/>
              <a:t>The predicted and actual abandonment trends follow each other closely when plotted for several months. This means that the model captures an underlying behavioral pattern rather than random fluctuations.</a:t>
            </a:r>
          </a:p>
          <a:p>
            <a:endParaRPr lang="en-US" sz="1400" dirty="0"/>
          </a:p>
          <a:p>
            <a:r>
              <a:rPr lang="en-US" sz="1400" dirty="0" smtClean="0"/>
              <a:t>The </a:t>
            </a:r>
            <a:r>
              <a:rPr lang="en-US" sz="1400" dirty="0"/>
              <a:t>closeness of the forecast to the actual outcome will help to </a:t>
            </a:r>
            <a:r>
              <a:rPr lang="en-US" sz="1400" b="1" dirty="0"/>
              <a:t>reinforce stability</a:t>
            </a:r>
            <a:r>
              <a:rPr lang="en-US" sz="1400" dirty="0"/>
              <a:t> and reliability of </a:t>
            </a:r>
            <a:r>
              <a:rPr lang="en-US" sz="1400" dirty="0" smtClean="0"/>
              <a:t>the</a:t>
            </a:r>
            <a:endParaRPr lang="en-US" sz="14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3630" y="3054218"/>
            <a:ext cx="7468642" cy="2057687"/>
          </a:xfrm>
          <a:prstGeom prst="rect">
            <a:avLst/>
          </a:prstGeom>
        </p:spPr>
      </p:pic>
      <p:sp>
        <p:nvSpPr>
          <p:cNvPr id="2" name="TextBox 1"/>
          <p:cNvSpPr txBox="1"/>
          <p:nvPr/>
        </p:nvSpPr>
        <p:spPr>
          <a:xfrm>
            <a:off x="155448" y="5015763"/>
            <a:ext cx="11926824" cy="523220"/>
          </a:xfrm>
          <a:prstGeom prst="rect">
            <a:avLst/>
          </a:prstGeom>
          <a:noFill/>
        </p:spPr>
        <p:txBody>
          <a:bodyPr wrap="square" rtlCol="0">
            <a:spAutoFit/>
          </a:bodyPr>
          <a:lstStyle/>
          <a:p>
            <a:r>
              <a:rPr lang="en-US" sz="1400" dirty="0"/>
              <a:t>m</a:t>
            </a:r>
            <a:r>
              <a:rPr lang="en-US" sz="1400" dirty="0" smtClean="0"/>
              <a:t>odel which makes it </a:t>
            </a:r>
            <a:r>
              <a:rPr lang="en-US" sz="1400" dirty="0"/>
              <a:t>suitable for operational integration because the marketing automation system can confidently act upon predictions and continuously monitor the performance in real time</a:t>
            </a:r>
            <a:r>
              <a:rPr lang="en-US" sz="1400" dirty="0" smtClean="0"/>
              <a:t>.</a:t>
            </a:r>
            <a:endParaRPr lang="en-US" sz="1400" dirty="0"/>
          </a:p>
        </p:txBody>
      </p:sp>
    </p:spTree>
    <p:extLst>
      <p:ext uri="{BB962C8B-B14F-4D97-AF65-F5344CB8AC3E}">
        <p14:creationId xmlns:p14="http://schemas.microsoft.com/office/powerpoint/2010/main" val="23317569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1920" y="155161"/>
            <a:ext cx="11838432" cy="1831271"/>
          </a:xfrm>
          <a:prstGeom prst="rect">
            <a:avLst/>
          </a:prstGeom>
          <a:noFill/>
        </p:spPr>
        <p:txBody>
          <a:bodyPr wrap="square" rtlCol="0">
            <a:spAutoFit/>
          </a:bodyPr>
          <a:lstStyle/>
          <a:p>
            <a:r>
              <a:rPr lang="en-US" sz="1500" b="1" dirty="0" smtClean="0"/>
              <a:t>Overall Conclusion </a:t>
            </a:r>
          </a:p>
          <a:p>
            <a:r>
              <a:rPr lang="en-US" sz="1400" dirty="0" smtClean="0"/>
              <a:t>The </a:t>
            </a:r>
            <a:r>
              <a:rPr lang="en-US" sz="1400" dirty="0"/>
              <a:t>results showed a systematic pattern of cart abandonment across key demographic and behavioral dimensions. With the design for strong recall, the predictive model brings early detection for at-risk sessions and gives a </a:t>
            </a:r>
            <a:r>
              <a:rPr lang="en-US" sz="1400" b="1" dirty="0"/>
              <a:t>critical advantage </a:t>
            </a:r>
            <a:r>
              <a:rPr lang="en-US" sz="1400" dirty="0"/>
              <a:t>to the business in retaining customers before they leave. These insights, from a business perspective, enable a strategic </a:t>
            </a:r>
            <a:r>
              <a:rPr lang="en-US" sz="1400" dirty="0" smtClean="0"/>
              <a:t>shift where teams </a:t>
            </a:r>
            <a:r>
              <a:rPr lang="en-US" sz="1400" dirty="0"/>
              <a:t>can stop relying on mere </a:t>
            </a:r>
            <a:r>
              <a:rPr lang="en-US" sz="1400" b="1" dirty="0"/>
              <a:t>reactive discounts or reminders </a:t>
            </a:r>
            <a:r>
              <a:rPr lang="en-US" sz="1400" dirty="0"/>
              <a:t>and instead use </a:t>
            </a:r>
            <a:r>
              <a:rPr lang="en-US" sz="1400" b="1" dirty="0"/>
              <a:t>data to anticipate hesitation </a:t>
            </a:r>
            <a:r>
              <a:rPr lang="en-US" sz="1400" dirty="0"/>
              <a:t>in customers, thus intervening precisely when it matters </a:t>
            </a:r>
            <a:r>
              <a:rPr lang="en-US" sz="1400" dirty="0" smtClean="0"/>
              <a:t>most.</a:t>
            </a:r>
          </a:p>
          <a:p>
            <a:r>
              <a:rPr lang="en-US" sz="1400" dirty="0" smtClean="0"/>
              <a:t>In </a:t>
            </a:r>
            <a:r>
              <a:rPr lang="en-US" sz="1400" dirty="0"/>
              <a:t>essence, this analysis gives </a:t>
            </a:r>
            <a:r>
              <a:rPr lang="en-US" sz="1400" dirty="0" smtClean="0"/>
              <a:t>the business </a:t>
            </a:r>
            <a:r>
              <a:rPr lang="en-US" sz="1400" dirty="0"/>
              <a:t>a roadmap for </a:t>
            </a:r>
            <a:r>
              <a:rPr lang="en-US" sz="1400" b="1" dirty="0"/>
              <a:t>smarter </a:t>
            </a:r>
            <a:r>
              <a:rPr lang="en-US" sz="1400" b="1" dirty="0" smtClean="0"/>
              <a:t>engagement</a:t>
            </a:r>
            <a:r>
              <a:rPr lang="en-US" sz="1400" dirty="0" smtClean="0"/>
              <a:t> which include; optimize </a:t>
            </a:r>
            <a:r>
              <a:rPr lang="en-US" sz="1400" dirty="0"/>
              <a:t>mobile experiences, personalize communication for high-risk groups, and focus on the cities with the highest abandonment rates. By taking action on these insights, the </a:t>
            </a:r>
            <a:r>
              <a:rPr lang="en-US" sz="1400" dirty="0" smtClean="0"/>
              <a:t>organization</a:t>
            </a:r>
            <a:r>
              <a:rPr lang="en-US" sz="1400" dirty="0" smtClean="0"/>
              <a:t> </a:t>
            </a:r>
            <a:r>
              <a:rPr lang="en-US" sz="1400" dirty="0"/>
              <a:t>will reduce lost sales, boost conversion rates, and create a more frictionless shopping journey that builds both trust and </a:t>
            </a:r>
            <a:r>
              <a:rPr lang="en-US" sz="1400" dirty="0" smtClean="0"/>
              <a:t>loyalty.</a:t>
            </a:r>
            <a:endParaRPr lang="en-US" sz="1400" dirty="0"/>
          </a:p>
        </p:txBody>
      </p:sp>
    </p:spTree>
    <p:extLst>
      <p:ext uri="{BB962C8B-B14F-4D97-AF65-F5344CB8AC3E}">
        <p14:creationId xmlns:p14="http://schemas.microsoft.com/office/powerpoint/2010/main" val="18266858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252984" y="631174"/>
            <a:ext cx="11777472" cy="754053"/>
          </a:xfrm>
          <a:prstGeom prst="rect">
            <a:avLst/>
          </a:prstGeom>
          <a:noFill/>
        </p:spPr>
        <p:txBody>
          <a:bodyPr wrap="square" rtlCol="0">
            <a:spAutoFit/>
          </a:bodyPr>
          <a:lstStyle/>
          <a:p>
            <a:pPr lvl="0" eaLnBrk="0" fontAlgn="base" hangingPunct="0">
              <a:spcBef>
                <a:spcPct val="0"/>
              </a:spcBef>
              <a:spcAft>
                <a:spcPct val="0"/>
              </a:spcAft>
            </a:pPr>
            <a:r>
              <a:rPr lang="en-US" altLang="en-US" sz="1500" b="1" dirty="0" smtClean="0"/>
              <a:t>Data </a:t>
            </a:r>
            <a:r>
              <a:rPr lang="en-US" altLang="en-US" sz="1500" b="1" dirty="0"/>
              <a:t>Source and Structure</a:t>
            </a:r>
          </a:p>
          <a:p>
            <a:pPr lvl="0" eaLnBrk="0" fontAlgn="base" hangingPunct="0">
              <a:spcBef>
                <a:spcPct val="0"/>
              </a:spcBef>
              <a:spcAft>
                <a:spcPct val="0"/>
              </a:spcAft>
            </a:pPr>
            <a:r>
              <a:rPr lang="en-US" altLang="en-US" sz="1400" dirty="0"/>
              <a:t>The dataset comes from a simulated e-commerce environment designed to capture customer shopping behavior.</a:t>
            </a:r>
            <a:br>
              <a:rPr lang="en-US" altLang="en-US" sz="1400" dirty="0"/>
            </a:br>
            <a:r>
              <a:rPr lang="en-US" altLang="en-US" sz="1400" dirty="0"/>
              <a:t>It’s organized into multiple relational tables that mirror a typical online retail database</a:t>
            </a:r>
            <a:r>
              <a:rPr lang="en-US" altLang="en-US" sz="1400" dirty="0" smtClean="0"/>
              <a:t>:</a:t>
            </a:r>
            <a:endParaRPr lang="en-US" altLang="en-US" sz="1400" dirty="0"/>
          </a:p>
        </p:txBody>
      </p:sp>
      <p:graphicFrame>
        <p:nvGraphicFramePr>
          <p:cNvPr id="20" name="Table 19"/>
          <p:cNvGraphicFramePr>
            <a:graphicFrameLocks noGrp="1"/>
          </p:cNvGraphicFramePr>
          <p:nvPr>
            <p:extLst>
              <p:ext uri="{D42A27DB-BD31-4B8C-83A1-F6EECF244321}">
                <p14:modId xmlns:p14="http://schemas.microsoft.com/office/powerpoint/2010/main" val="2170256177"/>
              </p:ext>
            </p:extLst>
          </p:nvPr>
        </p:nvGraphicFramePr>
        <p:xfrm>
          <a:off x="309351" y="1531739"/>
          <a:ext cx="11664738" cy="2225040"/>
        </p:xfrm>
        <a:graphic>
          <a:graphicData uri="http://schemas.openxmlformats.org/drawingml/2006/table">
            <a:tbl>
              <a:tblPr firstRow="1" bandRow="1">
                <a:tableStyleId>{5C22544A-7EE6-4342-B048-85BDC9FD1C3A}</a:tableStyleId>
              </a:tblPr>
              <a:tblGrid>
                <a:gridCol w="2494736">
                  <a:extLst>
                    <a:ext uri="{9D8B030D-6E8A-4147-A177-3AD203B41FA5}">
                      <a16:colId xmlns:a16="http://schemas.microsoft.com/office/drawing/2014/main" val="3843126131"/>
                    </a:ext>
                  </a:extLst>
                </a:gridCol>
                <a:gridCol w="9170002">
                  <a:extLst>
                    <a:ext uri="{9D8B030D-6E8A-4147-A177-3AD203B41FA5}">
                      <a16:colId xmlns:a16="http://schemas.microsoft.com/office/drawing/2014/main" val="12927240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smtClean="0"/>
                        <a:t>Table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smtClean="0"/>
                        <a:t>Description</a:t>
                      </a:r>
                    </a:p>
                  </a:txBody>
                  <a:tcPr/>
                </a:tc>
                <a:extLst>
                  <a:ext uri="{0D108BD9-81ED-4DB2-BD59-A6C34878D82A}">
                    <a16:rowId xmlns:a16="http://schemas.microsoft.com/office/drawing/2014/main" val="13386783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smtClean="0"/>
                        <a:t>Customer Table</a:t>
                      </a:r>
                      <a:endParaRPr lang="en-US"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smtClean="0"/>
                        <a:t>Includes demographic information such as age, gender, and city.</a:t>
                      </a:r>
                    </a:p>
                  </a:txBody>
                  <a:tcPr/>
                </a:tc>
                <a:extLst>
                  <a:ext uri="{0D108BD9-81ED-4DB2-BD59-A6C34878D82A}">
                    <a16:rowId xmlns:a16="http://schemas.microsoft.com/office/drawing/2014/main" val="4283610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smtClean="0"/>
                        <a:t>Product Table</a:t>
                      </a:r>
                      <a:endParaRPr lang="en-US"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smtClean="0"/>
                        <a:t>Contains product details like category and price.</a:t>
                      </a:r>
                    </a:p>
                  </a:txBody>
                  <a:tcPr/>
                </a:tc>
                <a:extLst>
                  <a:ext uri="{0D108BD9-81ED-4DB2-BD59-A6C34878D82A}">
                    <a16:rowId xmlns:a16="http://schemas.microsoft.com/office/drawing/2014/main" val="376235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smtClean="0"/>
                        <a:t>Device Table</a:t>
                      </a:r>
                      <a:endParaRPr lang="en-US"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smtClean="0"/>
                        <a:t>Tracks how the session occurred </a:t>
                      </a:r>
                      <a:r>
                        <a:rPr lang="en-US" sz="1400" dirty="0" smtClean="0"/>
                        <a:t>across device</a:t>
                      </a:r>
                      <a:r>
                        <a:rPr lang="en-US" sz="1400" baseline="0" dirty="0" smtClean="0"/>
                        <a:t> types like </a:t>
                      </a:r>
                      <a:r>
                        <a:rPr lang="en-US" sz="1400" dirty="0" smtClean="0"/>
                        <a:t>desktop</a:t>
                      </a:r>
                      <a:r>
                        <a:rPr lang="en-US" sz="1400" dirty="0" smtClean="0"/>
                        <a:t>, tablet, or mobile </a:t>
                      </a:r>
                      <a:r>
                        <a:rPr lang="en-US" sz="1400" dirty="0" smtClean="0"/>
                        <a:t>along </a:t>
                      </a:r>
                      <a:r>
                        <a:rPr lang="en-US" sz="1400" dirty="0" smtClean="0"/>
                        <a:t>with operating system.</a:t>
                      </a:r>
                    </a:p>
                  </a:txBody>
                  <a:tcPr/>
                </a:tc>
                <a:extLst>
                  <a:ext uri="{0D108BD9-81ED-4DB2-BD59-A6C34878D82A}">
                    <a16:rowId xmlns:a16="http://schemas.microsoft.com/office/drawing/2014/main" val="25228144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smtClean="0"/>
                        <a:t>Date Table</a:t>
                      </a:r>
                      <a:endParaRPr lang="en-US"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smtClean="0"/>
                        <a:t>Provides date information used to extract time-based features such as month and day of the week.</a:t>
                      </a:r>
                    </a:p>
                  </a:txBody>
                  <a:tcPr/>
                </a:tc>
                <a:extLst>
                  <a:ext uri="{0D108BD9-81ED-4DB2-BD59-A6C34878D82A}">
                    <a16:rowId xmlns:a16="http://schemas.microsoft.com/office/drawing/2014/main" val="36971595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smtClean="0"/>
                        <a:t>Fact Table</a:t>
                      </a:r>
                      <a:endParaRPr lang="en-US"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smtClean="0"/>
                        <a:t>Records transaction-level data, linking all dimensions together. It’s where the “abandoned” label originates.</a:t>
                      </a:r>
                    </a:p>
                  </a:txBody>
                  <a:tcPr/>
                </a:tc>
                <a:extLst>
                  <a:ext uri="{0D108BD9-81ED-4DB2-BD59-A6C34878D82A}">
                    <a16:rowId xmlns:a16="http://schemas.microsoft.com/office/drawing/2014/main" val="155375250"/>
                  </a:ext>
                </a:extLst>
              </a:tr>
            </a:tbl>
          </a:graphicData>
        </a:graphic>
      </p:graphicFrame>
      <p:sp>
        <p:nvSpPr>
          <p:cNvPr id="21" name="Title 1"/>
          <p:cNvSpPr txBox="1">
            <a:spLocks/>
          </p:cNvSpPr>
          <p:nvPr/>
        </p:nvSpPr>
        <p:spPr>
          <a:xfrm>
            <a:off x="252984" y="97722"/>
            <a:ext cx="10515600" cy="5736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icrosoft Sans Serif" panose="020B0604020202020204" pitchFamily="34" charset="0"/>
                <a:ea typeface="Microsoft Sans Serif" panose="020B0604020202020204" pitchFamily="34" charset="0"/>
                <a:cs typeface="Microsoft Sans Serif" panose="020B0604020202020204" pitchFamily="34" charset="0"/>
              </a:rPr>
              <a:t>Data Overview</a:t>
            </a:r>
          </a:p>
        </p:txBody>
      </p:sp>
      <p:sp>
        <p:nvSpPr>
          <p:cNvPr id="23" name="TextBox 22"/>
          <p:cNvSpPr txBox="1"/>
          <p:nvPr/>
        </p:nvSpPr>
        <p:spPr>
          <a:xfrm>
            <a:off x="252984" y="3877056"/>
            <a:ext cx="11721105" cy="2246769"/>
          </a:xfrm>
          <a:prstGeom prst="rect">
            <a:avLst/>
          </a:prstGeom>
          <a:noFill/>
        </p:spPr>
        <p:txBody>
          <a:bodyPr wrap="square" rtlCol="0">
            <a:spAutoFit/>
          </a:bodyPr>
          <a:lstStyle/>
          <a:p>
            <a:pPr lvl="0" eaLnBrk="0" fontAlgn="base" hangingPunct="0">
              <a:spcBef>
                <a:spcPct val="0"/>
              </a:spcBef>
              <a:spcAft>
                <a:spcPct val="0"/>
              </a:spcAft>
            </a:pPr>
            <a:r>
              <a:rPr lang="en-US" altLang="en-US" sz="1500" b="1" dirty="0"/>
              <a:t>Data </a:t>
            </a:r>
            <a:r>
              <a:rPr lang="en-US" altLang="en-US" sz="1500" b="1" dirty="0" smtClean="0"/>
              <a:t>Integration</a:t>
            </a:r>
          </a:p>
          <a:p>
            <a:pPr lvl="0" eaLnBrk="0" fontAlgn="base" hangingPunct="0">
              <a:spcBef>
                <a:spcPct val="0"/>
              </a:spcBef>
              <a:spcAft>
                <a:spcPct val="0"/>
              </a:spcAft>
            </a:pPr>
            <a:endParaRPr lang="en-US" altLang="en-US" sz="1400" b="1" dirty="0"/>
          </a:p>
          <a:p>
            <a:pPr lvl="0" eaLnBrk="0" fontAlgn="base" hangingPunct="0">
              <a:spcBef>
                <a:spcPct val="0"/>
              </a:spcBef>
              <a:spcAft>
                <a:spcPct val="0"/>
              </a:spcAft>
            </a:pPr>
            <a:r>
              <a:rPr lang="en-US" altLang="en-US" sz="1400" dirty="0"/>
              <a:t>All five tables were merged using their respective foreign keys to form a </a:t>
            </a:r>
            <a:r>
              <a:rPr lang="en-US" altLang="en-US" sz="1400" b="1" dirty="0"/>
              <a:t>fact-dimension schema</a:t>
            </a:r>
            <a:r>
              <a:rPr lang="en-US" altLang="en-US" sz="1400" dirty="0"/>
              <a:t>, which was later prepared for modeling.</a:t>
            </a:r>
            <a:br>
              <a:rPr lang="en-US" altLang="en-US" sz="1400" dirty="0"/>
            </a:br>
            <a:r>
              <a:rPr lang="en-US" altLang="en-US" sz="1400" dirty="0"/>
              <a:t>After integration, the data was cleaned, and a subset of </a:t>
            </a:r>
            <a:r>
              <a:rPr lang="en-US" altLang="en-US" sz="1400" b="1" dirty="0"/>
              <a:t>750 records</a:t>
            </a:r>
            <a:r>
              <a:rPr lang="en-US" altLang="en-US" sz="1400" dirty="0"/>
              <a:t> was used </a:t>
            </a:r>
            <a:r>
              <a:rPr lang="en-US" altLang="en-US" sz="1400" dirty="0" smtClean="0"/>
              <a:t>for evaluation</a:t>
            </a:r>
            <a:r>
              <a:rPr lang="en-US" altLang="en-US" sz="1400" dirty="0"/>
              <a:t>.</a:t>
            </a:r>
          </a:p>
          <a:p>
            <a:pPr lvl="0" eaLnBrk="0" fontAlgn="base" hangingPunct="0">
              <a:spcBef>
                <a:spcPct val="0"/>
              </a:spcBef>
              <a:spcAft>
                <a:spcPct val="0"/>
              </a:spcAft>
            </a:pPr>
            <a:r>
              <a:rPr lang="en-US" altLang="en-US" sz="1400" dirty="0"/>
              <a:t>Key transformations included:</a:t>
            </a:r>
          </a:p>
          <a:p>
            <a:pPr marL="285750" lvl="0" indent="-285750" eaLnBrk="0" fontAlgn="base" hangingPunct="0">
              <a:spcBef>
                <a:spcPct val="0"/>
              </a:spcBef>
              <a:spcAft>
                <a:spcPct val="0"/>
              </a:spcAft>
              <a:buFont typeface="Arial" panose="020B0604020202020204" pitchFamily="34" charset="0"/>
              <a:buChar char="•"/>
            </a:pPr>
            <a:r>
              <a:rPr lang="en-US" altLang="en-US" sz="1400" dirty="0"/>
              <a:t>Handling missing values using </a:t>
            </a:r>
            <a:r>
              <a:rPr lang="en-US" altLang="en-US" sz="1400" b="1" dirty="0"/>
              <a:t>median</a:t>
            </a:r>
            <a:r>
              <a:rPr lang="en-US" altLang="en-US" sz="1400" dirty="0"/>
              <a:t> (numeric) and </a:t>
            </a:r>
            <a:r>
              <a:rPr lang="en-US" altLang="en-US" sz="1400" b="1" dirty="0"/>
              <a:t>most frequent</a:t>
            </a:r>
            <a:r>
              <a:rPr lang="en-US" altLang="en-US" sz="1400" dirty="0"/>
              <a:t> (categorical) imputations</a:t>
            </a:r>
          </a:p>
          <a:p>
            <a:pPr marL="285750" lvl="0" indent="-285750" eaLnBrk="0" fontAlgn="base" hangingPunct="0">
              <a:spcBef>
                <a:spcPct val="0"/>
              </a:spcBef>
              <a:spcAft>
                <a:spcPct val="0"/>
              </a:spcAft>
              <a:buFont typeface="Arial" panose="020B0604020202020204" pitchFamily="34" charset="0"/>
              <a:buChar char="•"/>
            </a:pPr>
            <a:r>
              <a:rPr lang="en-US" altLang="en-US" sz="1400" b="1" dirty="0"/>
              <a:t>Log-transforming prices</a:t>
            </a:r>
            <a:r>
              <a:rPr lang="en-US" altLang="en-US" sz="1400" dirty="0"/>
              <a:t> to reduce skewness</a:t>
            </a:r>
          </a:p>
          <a:p>
            <a:pPr marL="285750" lvl="0" indent="-285750" eaLnBrk="0" fontAlgn="base" hangingPunct="0">
              <a:spcBef>
                <a:spcPct val="0"/>
              </a:spcBef>
              <a:spcAft>
                <a:spcPct val="0"/>
              </a:spcAft>
              <a:buFont typeface="Arial" panose="020B0604020202020204" pitchFamily="34" charset="0"/>
              <a:buChar char="•"/>
            </a:pPr>
            <a:r>
              <a:rPr lang="en-US" altLang="en-US" sz="1400" dirty="0"/>
              <a:t>Creating a binary </a:t>
            </a:r>
            <a:r>
              <a:rPr lang="en-US" altLang="en-US" sz="1400" b="1" dirty="0" err="1"/>
              <a:t>is_high_value</a:t>
            </a:r>
            <a:r>
              <a:rPr lang="en-US" altLang="en-US" sz="1400" dirty="0"/>
              <a:t> feature based on transaction amount</a:t>
            </a:r>
          </a:p>
          <a:p>
            <a:pPr marL="285750" lvl="0" indent="-285750" eaLnBrk="0" fontAlgn="base" hangingPunct="0">
              <a:spcBef>
                <a:spcPct val="0"/>
              </a:spcBef>
              <a:spcAft>
                <a:spcPct val="0"/>
              </a:spcAft>
              <a:buFont typeface="Arial" panose="020B0604020202020204" pitchFamily="34" charset="0"/>
              <a:buChar char="•"/>
            </a:pPr>
            <a:r>
              <a:rPr lang="en-US" altLang="en-US" sz="1400" dirty="0"/>
              <a:t>Extracting </a:t>
            </a:r>
            <a:r>
              <a:rPr lang="en-US" altLang="en-US" sz="1400" b="1" dirty="0"/>
              <a:t>month</a:t>
            </a:r>
            <a:r>
              <a:rPr lang="en-US" altLang="en-US" sz="1400" dirty="0"/>
              <a:t> and </a:t>
            </a:r>
            <a:r>
              <a:rPr lang="en-US" altLang="en-US" sz="1400" b="1" dirty="0" err="1"/>
              <a:t>day_of_week</a:t>
            </a:r>
            <a:r>
              <a:rPr lang="en-US" altLang="en-US" sz="1400" dirty="0"/>
              <a:t> from the </a:t>
            </a:r>
            <a:r>
              <a:rPr lang="en-US" altLang="en-US" sz="1400" dirty="0" err="1"/>
              <a:t>date_id</a:t>
            </a:r>
            <a:endParaRPr lang="en-US" altLang="en-US" sz="1400" dirty="0"/>
          </a:p>
          <a:p>
            <a:pPr marL="285750" lvl="0" indent="-285750" eaLnBrk="0" fontAlgn="base" hangingPunct="0">
              <a:spcBef>
                <a:spcPct val="0"/>
              </a:spcBef>
              <a:spcAft>
                <a:spcPct val="0"/>
              </a:spcAft>
              <a:buFont typeface="Arial" panose="020B0604020202020204" pitchFamily="34" charset="0"/>
              <a:buChar char="•"/>
            </a:pPr>
            <a:r>
              <a:rPr lang="en-US" altLang="en-US" sz="1400" dirty="0"/>
              <a:t>Removing personal identifiers and potential leakage columns such as </a:t>
            </a:r>
            <a:r>
              <a:rPr lang="en-US" altLang="en-US" sz="1400" dirty="0" err="1"/>
              <a:t>customer_name</a:t>
            </a:r>
            <a:r>
              <a:rPr lang="en-US" altLang="en-US" sz="1400" dirty="0"/>
              <a:t>, </a:t>
            </a:r>
            <a:r>
              <a:rPr lang="en-US" altLang="en-US" sz="1400" dirty="0" err="1"/>
              <a:t>product_name</a:t>
            </a:r>
            <a:r>
              <a:rPr lang="en-US" altLang="en-US" sz="1400" dirty="0"/>
              <a:t>, and </a:t>
            </a:r>
            <a:r>
              <a:rPr lang="en-US" altLang="en-US" sz="1400" dirty="0" err="1" smtClean="0"/>
              <a:t>abandonment_time</a:t>
            </a:r>
            <a:r>
              <a:rPr lang="en-US" altLang="en-US" sz="1400" dirty="0" smtClean="0">
                <a:latin typeface="Arial" panose="020B0604020202020204" pitchFamily="34" charset="0"/>
              </a:rPr>
              <a:t>.</a:t>
            </a:r>
            <a:endParaRPr lang="en-US" altLang="en-US" sz="1400" dirty="0"/>
          </a:p>
        </p:txBody>
      </p:sp>
    </p:spTree>
    <p:extLst>
      <p:ext uri="{BB962C8B-B14F-4D97-AF65-F5344CB8AC3E}">
        <p14:creationId xmlns:p14="http://schemas.microsoft.com/office/powerpoint/2010/main" val="4879360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idx="1"/>
          </p:nvPr>
        </p:nvSpPr>
        <p:spPr bwMode="auto">
          <a:xfrm>
            <a:off x="166878" y="165808"/>
            <a:ext cx="9682587" cy="423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1" i="0" u="none" strike="noStrike" cap="none" normalizeH="0" baseline="0" dirty="0" smtClean="0">
                <a:ln>
                  <a:noFill/>
                </a:ln>
                <a:solidFill>
                  <a:schemeClr val="tx1"/>
                </a:solidFill>
                <a:effectLst/>
              </a:rPr>
              <a:t>Feature Composition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smtClean="0">
                <a:ln>
                  <a:noFill/>
                </a:ln>
                <a:solidFill>
                  <a:schemeClr val="tx1"/>
                </a:solidFill>
                <a:effectLst/>
              </a:rPr>
              <a:t>The modeling dataset consisted of two main feature types: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1" i="0" u="none" strike="noStrike" cap="none" normalizeH="0" baseline="0" dirty="0" smtClean="0">
                <a:ln>
                  <a:noFill/>
                </a:ln>
                <a:solidFill>
                  <a:schemeClr val="tx1"/>
                </a:solidFill>
                <a:effectLst/>
              </a:rPr>
              <a:t>Numeric Features</a:t>
            </a:r>
            <a:endParaRPr kumimoji="0" lang="en-US" altLang="en-US" sz="1500" b="0" i="0" u="none" strike="noStrike" cap="none" normalizeH="0" baseline="0" dirty="0" smtClean="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rPr>
              <a:t>Age</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rPr>
              <a:t>Quantity</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rPr>
              <a:t>Log-transformed price (</a:t>
            </a:r>
            <a:r>
              <a:rPr kumimoji="0" lang="en-US" altLang="en-US" sz="1400" b="0" i="0" u="none" strike="noStrike" cap="none" normalizeH="0" baseline="0" dirty="0" err="1" smtClean="0">
                <a:ln>
                  <a:noFill/>
                </a:ln>
                <a:solidFill>
                  <a:schemeClr val="tx1"/>
                </a:solidFill>
                <a:effectLst/>
              </a:rPr>
              <a:t>log_price</a:t>
            </a:r>
            <a:r>
              <a:rPr kumimoji="0" lang="en-US" altLang="en-US" sz="1400" b="0" i="0" u="none" strike="noStrike" cap="none" normalizeH="0" baseline="0" dirty="0" smtClean="0">
                <a:ln>
                  <a:noFill/>
                </a:ln>
                <a:solidFill>
                  <a:schemeClr val="tx1"/>
                </a:solidFill>
                <a:effectLst/>
              </a:rPr>
              <a:t>)</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rPr>
              <a:t>High-value indicator (</a:t>
            </a:r>
            <a:r>
              <a:rPr kumimoji="0" lang="en-US" altLang="en-US" sz="1400" b="0" i="0" u="none" strike="noStrike" cap="none" normalizeH="0" baseline="0" dirty="0" err="1" smtClean="0">
                <a:ln>
                  <a:noFill/>
                </a:ln>
                <a:solidFill>
                  <a:schemeClr val="tx1"/>
                </a:solidFill>
                <a:effectLst/>
              </a:rPr>
              <a:t>is_high_value</a:t>
            </a:r>
            <a:r>
              <a:rPr kumimoji="0" lang="en-US" altLang="en-US" sz="14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1" i="0" u="none" strike="noStrike" cap="none" normalizeH="0" baseline="0" dirty="0" smtClean="0">
                <a:ln>
                  <a:noFill/>
                </a:ln>
                <a:solidFill>
                  <a:schemeClr val="tx1"/>
                </a:solidFill>
                <a:effectLst/>
              </a:rPr>
              <a:t>Categorical Features</a:t>
            </a:r>
            <a:endParaRPr kumimoji="0" lang="en-US" altLang="en-US" sz="1500" b="0" i="0" u="none" strike="noStrike" cap="none" normalizeH="0" baseline="0" dirty="0" smtClean="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rPr>
              <a:t>Gender</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rPr>
              <a:t>City</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rPr>
              <a:t>Category</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rPr>
              <a:t>Device type</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rPr>
              <a:t>Operating system</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rPr>
              <a:t>Day of week</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rPr>
              <a:t>Month</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smtClean="0">
                <a:ln>
                  <a:noFill/>
                </a:ln>
                <a:solidFill>
                  <a:schemeClr val="tx1"/>
                </a:solidFill>
                <a:effectLst/>
              </a:rPr>
              <a:t>These features capture both </a:t>
            </a:r>
            <a:r>
              <a:rPr kumimoji="0" lang="en-US" altLang="en-US" sz="1400" b="1" i="0" u="none" strike="noStrike" cap="none" normalizeH="0" baseline="0" dirty="0" smtClean="0">
                <a:ln>
                  <a:noFill/>
                </a:ln>
                <a:solidFill>
                  <a:schemeClr val="tx1"/>
                </a:solidFill>
                <a:effectLst/>
              </a:rPr>
              <a:t>who</a:t>
            </a:r>
            <a:r>
              <a:rPr kumimoji="0" lang="en-US" altLang="en-US" sz="1400" b="0" i="0" u="none" strike="noStrike" cap="none" normalizeH="0" baseline="0" dirty="0" smtClean="0">
                <a:ln>
                  <a:noFill/>
                </a:ln>
                <a:solidFill>
                  <a:schemeClr val="tx1"/>
                </a:solidFill>
                <a:effectLst/>
              </a:rPr>
              <a:t> the customer is and </a:t>
            </a:r>
            <a:r>
              <a:rPr kumimoji="0" lang="en-US" altLang="en-US" sz="1400" b="1" i="0" u="none" strike="noStrike" cap="none" normalizeH="0" baseline="0" dirty="0" smtClean="0">
                <a:ln>
                  <a:noFill/>
                </a:ln>
                <a:solidFill>
                  <a:schemeClr val="tx1"/>
                </a:solidFill>
                <a:effectLst/>
              </a:rPr>
              <a:t>how</a:t>
            </a:r>
            <a:r>
              <a:rPr kumimoji="0" lang="en-US" altLang="en-US" sz="1400" b="0" i="0" u="none" strike="noStrike" cap="none" normalizeH="0" baseline="0" dirty="0" smtClean="0">
                <a:ln>
                  <a:noFill/>
                </a:ln>
                <a:solidFill>
                  <a:schemeClr val="tx1"/>
                </a:solidFill>
                <a:effectLst/>
              </a:rPr>
              <a:t> they shop, allowing the model to learn meaningful behavioral patterns.</a:t>
            </a:r>
          </a:p>
        </p:txBody>
      </p:sp>
      <p:sp>
        <p:nvSpPr>
          <p:cNvPr id="10" name="TextBox 9"/>
          <p:cNvSpPr txBox="1"/>
          <p:nvPr/>
        </p:nvSpPr>
        <p:spPr>
          <a:xfrm>
            <a:off x="206942" y="4397736"/>
            <a:ext cx="6559296" cy="2492990"/>
          </a:xfrm>
          <a:prstGeom prst="rect">
            <a:avLst/>
          </a:prstGeom>
          <a:noFill/>
        </p:spPr>
        <p:txBody>
          <a:bodyPr wrap="square" rtlCol="0">
            <a:spAutoFit/>
          </a:bodyPr>
          <a:lstStyle/>
          <a:p>
            <a:pPr lvl="0" eaLnBrk="0" fontAlgn="base" hangingPunct="0">
              <a:spcBef>
                <a:spcPct val="0"/>
              </a:spcBef>
              <a:spcAft>
                <a:spcPct val="0"/>
              </a:spcAft>
            </a:pPr>
            <a:r>
              <a:rPr lang="en-US" altLang="en-US" sz="1500" b="1" dirty="0"/>
              <a:t>Preprocessing </a:t>
            </a:r>
            <a:r>
              <a:rPr lang="en-US" altLang="en-US" sz="1500" b="1" dirty="0" smtClean="0"/>
              <a:t>Pipeline</a:t>
            </a:r>
          </a:p>
          <a:p>
            <a:pPr lvl="0" eaLnBrk="0" fontAlgn="base" hangingPunct="0">
              <a:spcBef>
                <a:spcPct val="0"/>
              </a:spcBef>
              <a:spcAft>
                <a:spcPct val="0"/>
              </a:spcAft>
            </a:pPr>
            <a:endParaRPr lang="en-US" altLang="en-US" sz="1500" b="1" dirty="0"/>
          </a:p>
          <a:p>
            <a:pPr lvl="0" eaLnBrk="0" fontAlgn="base" hangingPunct="0">
              <a:spcBef>
                <a:spcPct val="0"/>
              </a:spcBef>
              <a:spcAft>
                <a:spcPct val="0"/>
              </a:spcAft>
            </a:pPr>
            <a:r>
              <a:rPr lang="en-US" altLang="en-US" sz="1400" dirty="0"/>
              <a:t>A custom preprocessing pipeline was built using </a:t>
            </a:r>
            <a:r>
              <a:rPr lang="en-US" altLang="en-US" sz="1400" dirty="0" err="1"/>
              <a:t>scikit-learn’s</a:t>
            </a:r>
            <a:r>
              <a:rPr lang="en-US" altLang="en-US" sz="1400" dirty="0"/>
              <a:t> </a:t>
            </a:r>
            <a:r>
              <a:rPr lang="en-US" altLang="en-US" sz="1400" dirty="0" err="1"/>
              <a:t>ColumnTransformer</a:t>
            </a:r>
            <a:r>
              <a:rPr lang="en-US" altLang="en-US" sz="1400" dirty="0"/>
              <a:t> to ensure consistency across training, validation, and test sets</a:t>
            </a:r>
            <a:r>
              <a:rPr lang="en-US" altLang="en-US" sz="1400" dirty="0" smtClean="0"/>
              <a:t>.</a:t>
            </a:r>
          </a:p>
          <a:p>
            <a:pPr lvl="0" eaLnBrk="0" fontAlgn="base" hangingPunct="0">
              <a:spcBef>
                <a:spcPct val="0"/>
              </a:spcBef>
              <a:spcAft>
                <a:spcPct val="0"/>
              </a:spcAft>
            </a:pPr>
            <a:endParaRPr lang="en-US" altLang="en-US" sz="1400" dirty="0"/>
          </a:p>
          <a:p>
            <a:pPr marL="285750" lvl="0" indent="-285750" eaLnBrk="0" fontAlgn="base" hangingPunct="0">
              <a:spcBef>
                <a:spcPct val="0"/>
              </a:spcBef>
              <a:spcAft>
                <a:spcPct val="0"/>
              </a:spcAft>
              <a:buFont typeface="Arial" panose="020B0604020202020204" pitchFamily="34" charset="0"/>
              <a:buChar char="•"/>
            </a:pPr>
            <a:r>
              <a:rPr lang="en-US" altLang="en-US" sz="1400" b="1" dirty="0"/>
              <a:t>Numeric pipeline:</a:t>
            </a:r>
            <a:r>
              <a:rPr lang="en-US" altLang="en-US" sz="1400" dirty="0"/>
              <a:t> imputation + scaling</a:t>
            </a:r>
          </a:p>
          <a:p>
            <a:pPr marL="285750" lvl="0" indent="-285750" eaLnBrk="0" fontAlgn="base" hangingPunct="0">
              <a:spcBef>
                <a:spcPct val="0"/>
              </a:spcBef>
              <a:spcAft>
                <a:spcPct val="0"/>
              </a:spcAft>
              <a:buFont typeface="Arial" panose="020B0604020202020204" pitchFamily="34" charset="0"/>
              <a:buChar char="•"/>
            </a:pPr>
            <a:r>
              <a:rPr lang="en-US" altLang="en-US" sz="1400" b="1" dirty="0"/>
              <a:t>Categorical pipeline:</a:t>
            </a:r>
            <a:r>
              <a:rPr lang="en-US" altLang="en-US" sz="1400" dirty="0"/>
              <a:t> imputation + one-hot </a:t>
            </a:r>
            <a:r>
              <a:rPr lang="en-US" altLang="en-US" sz="1400" dirty="0" smtClean="0"/>
              <a:t>encoding</a:t>
            </a:r>
          </a:p>
          <a:p>
            <a:pPr lvl="0" eaLnBrk="0" fontAlgn="base" hangingPunct="0">
              <a:spcBef>
                <a:spcPct val="0"/>
              </a:spcBef>
              <a:spcAft>
                <a:spcPct val="0"/>
              </a:spcAft>
            </a:pPr>
            <a:endParaRPr lang="en-US" altLang="en-US" sz="1400" dirty="0"/>
          </a:p>
          <a:p>
            <a:pPr lvl="0" eaLnBrk="0" fontAlgn="base" hangingPunct="0">
              <a:spcBef>
                <a:spcPct val="0"/>
              </a:spcBef>
              <a:spcAft>
                <a:spcPct val="0"/>
              </a:spcAft>
            </a:pPr>
            <a:r>
              <a:rPr lang="en-US" altLang="en-US" sz="1400" dirty="0"/>
              <a:t>This automation guarantees the same transformations are applied during model training, evaluation, and future </a:t>
            </a:r>
            <a:r>
              <a:rPr lang="en-US" altLang="en-US" sz="1400" dirty="0" smtClean="0"/>
              <a:t>predictions whereby improving </a:t>
            </a:r>
            <a:r>
              <a:rPr lang="en-US" altLang="en-US" sz="1400" dirty="0"/>
              <a:t>reliability and reproducibility</a:t>
            </a:r>
            <a:r>
              <a:rPr lang="en-US" altLang="en-US" sz="1400" dirty="0" smtClean="0"/>
              <a:t>.</a:t>
            </a:r>
            <a:endParaRPr lang="en-US" altLang="en-US" sz="1400" dirty="0"/>
          </a:p>
        </p:txBody>
      </p:sp>
      <p:sp>
        <p:nvSpPr>
          <p:cNvPr id="11" name="Rectangle 10"/>
          <p:cNvSpPr/>
          <p:nvPr/>
        </p:nvSpPr>
        <p:spPr>
          <a:xfrm>
            <a:off x="6720078" y="4614672"/>
            <a:ext cx="1162062" cy="7254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654796" y="4614672"/>
            <a:ext cx="1158216" cy="7254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0678656" y="4614672"/>
            <a:ext cx="1232928" cy="7254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0678656" y="5873186"/>
            <a:ext cx="1232928" cy="7226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652071" y="5873186"/>
            <a:ext cx="1160941" cy="7226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p:cNvSpPr/>
          <p:nvPr/>
        </p:nvSpPr>
        <p:spPr>
          <a:xfrm>
            <a:off x="8012436" y="4914507"/>
            <a:ext cx="487680" cy="13716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p:cNvSpPr/>
          <p:nvPr/>
        </p:nvSpPr>
        <p:spPr>
          <a:xfrm>
            <a:off x="10017990" y="4914507"/>
            <a:ext cx="487680" cy="13716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p:cNvSpPr/>
          <p:nvPr/>
        </p:nvSpPr>
        <p:spPr>
          <a:xfrm rot="5400000">
            <a:off x="11147447" y="5529673"/>
            <a:ext cx="295346" cy="153936"/>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rot="10800000">
            <a:off x="10017990" y="6165949"/>
            <a:ext cx="487680" cy="13716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6831386" y="4772736"/>
            <a:ext cx="1025619" cy="323165"/>
          </a:xfrm>
          <a:prstGeom prst="rect">
            <a:avLst/>
          </a:prstGeom>
          <a:noFill/>
        </p:spPr>
        <p:txBody>
          <a:bodyPr wrap="square" rtlCol="0">
            <a:spAutoFit/>
          </a:bodyPr>
          <a:lstStyle/>
          <a:p>
            <a:r>
              <a:rPr lang="en-US" sz="1500" b="1" dirty="0" smtClean="0"/>
              <a:t>Raw Data</a:t>
            </a:r>
            <a:endParaRPr lang="en-US" sz="1500" b="1" dirty="0"/>
          </a:p>
        </p:txBody>
      </p:sp>
      <p:sp>
        <p:nvSpPr>
          <p:cNvPr id="21" name="TextBox 20"/>
          <p:cNvSpPr txBox="1"/>
          <p:nvPr/>
        </p:nvSpPr>
        <p:spPr>
          <a:xfrm>
            <a:off x="8759963" y="4772736"/>
            <a:ext cx="896102" cy="323165"/>
          </a:xfrm>
          <a:prstGeom prst="rect">
            <a:avLst/>
          </a:prstGeom>
          <a:noFill/>
        </p:spPr>
        <p:txBody>
          <a:bodyPr wrap="square" rtlCol="0">
            <a:spAutoFit/>
          </a:bodyPr>
          <a:lstStyle/>
          <a:p>
            <a:r>
              <a:rPr lang="en-US" sz="1500" b="1" dirty="0" smtClean="0"/>
              <a:t>Cleaning</a:t>
            </a:r>
            <a:endParaRPr lang="en-US" sz="1500" b="1" dirty="0"/>
          </a:p>
        </p:txBody>
      </p:sp>
      <p:sp>
        <p:nvSpPr>
          <p:cNvPr id="22" name="TextBox 21"/>
          <p:cNvSpPr txBox="1"/>
          <p:nvPr/>
        </p:nvSpPr>
        <p:spPr>
          <a:xfrm>
            <a:off x="10790663" y="4772736"/>
            <a:ext cx="1043947" cy="323165"/>
          </a:xfrm>
          <a:prstGeom prst="rect">
            <a:avLst/>
          </a:prstGeom>
          <a:noFill/>
        </p:spPr>
        <p:txBody>
          <a:bodyPr wrap="square" rtlCol="0">
            <a:spAutoFit/>
          </a:bodyPr>
          <a:lstStyle/>
          <a:p>
            <a:r>
              <a:rPr lang="en-US" sz="1500" b="1" dirty="0" smtClean="0"/>
              <a:t>Encoding</a:t>
            </a:r>
            <a:endParaRPr lang="en-US" sz="1500" b="1" dirty="0"/>
          </a:p>
        </p:txBody>
      </p:sp>
      <p:sp>
        <p:nvSpPr>
          <p:cNvPr id="23" name="TextBox 22"/>
          <p:cNvSpPr txBox="1"/>
          <p:nvPr/>
        </p:nvSpPr>
        <p:spPr>
          <a:xfrm>
            <a:off x="10946495" y="6042350"/>
            <a:ext cx="851185" cy="323165"/>
          </a:xfrm>
          <a:prstGeom prst="rect">
            <a:avLst/>
          </a:prstGeom>
          <a:noFill/>
        </p:spPr>
        <p:txBody>
          <a:bodyPr wrap="square" rtlCol="0">
            <a:spAutoFit/>
          </a:bodyPr>
          <a:lstStyle/>
          <a:p>
            <a:r>
              <a:rPr lang="en-US" sz="1500" b="1" dirty="0" smtClean="0"/>
              <a:t>Scaling</a:t>
            </a:r>
            <a:endParaRPr lang="en-US" sz="1500" b="1" dirty="0"/>
          </a:p>
        </p:txBody>
      </p:sp>
      <p:sp>
        <p:nvSpPr>
          <p:cNvPr id="24" name="TextBox 23"/>
          <p:cNvSpPr txBox="1"/>
          <p:nvPr/>
        </p:nvSpPr>
        <p:spPr>
          <a:xfrm>
            <a:off x="8652071" y="5926933"/>
            <a:ext cx="1252015" cy="553998"/>
          </a:xfrm>
          <a:prstGeom prst="rect">
            <a:avLst/>
          </a:prstGeom>
          <a:noFill/>
        </p:spPr>
        <p:txBody>
          <a:bodyPr wrap="square" rtlCol="0">
            <a:spAutoFit/>
          </a:bodyPr>
          <a:lstStyle/>
          <a:p>
            <a:r>
              <a:rPr lang="en-US" sz="1500" b="1" dirty="0" smtClean="0"/>
              <a:t>Model-ready dataset</a:t>
            </a:r>
            <a:endParaRPr lang="en-US" sz="1500" b="1" dirty="0"/>
          </a:p>
        </p:txBody>
      </p:sp>
    </p:spTree>
    <p:extLst>
      <p:ext uri="{BB962C8B-B14F-4D97-AF65-F5344CB8AC3E}">
        <p14:creationId xmlns:p14="http://schemas.microsoft.com/office/powerpoint/2010/main" val="9404053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52984" y="731520"/>
            <a:ext cx="11756136" cy="4572000"/>
          </a:xfrm>
        </p:spPr>
        <p:txBody>
          <a:bodyPr>
            <a:noAutofit/>
          </a:bodyPr>
          <a:lstStyle/>
          <a:p>
            <a:pPr marL="0" indent="0">
              <a:lnSpc>
                <a:spcPct val="100000"/>
              </a:lnSpc>
              <a:buNone/>
            </a:pPr>
            <a:r>
              <a:rPr lang="en-US" sz="1400" dirty="0"/>
              <a:t>The workflow for this project was built as a complete </a:t>
            </a:r>
            <a:r>
              <a:rPr lang="en-US" sz="1400" b="1" dirty="0"/>
              <a:t>end-to-end system</a:t>
            </a:r>
            <a:r>
              <a:rPr lang="en-US" sz="1400" dirty="0"/>
              <a:t>, starting from raw data and ending with live insights in Power BI. Each stage plays a specific role in making the predictions accurate and the results actionable.</a:t>
            </a:r>
          </a:p>
          <a:p>
            <a:pPr marL="0" indent="0">
              <a:lnSpc>
                <a:spcPct val="100000"/>
              </a:lnSpc>
              <a:buNone/>
            </a:pPr>
            <a:r>
              <a:rPr lang="en-US" sz="1500" b="1" dirty="0"/>
              <a:t>Data Preparation </a:t>
            </a:r>
            <a:r>
              <a:rPr lang="en-US" sz="1400" dirty="0"/>
              <a:t/>
            </a:r>
            <a:br>
              <a:rPr lang="en-US" sz="1400" dirty="0"/>
            </a:br>
            <a:r>
              <a:rPr lang="en-US" sz="1400" dirty="0"/>
              <a:t>Data was sourced from five </a:t>
            </a:r>
            <a:r>
              <a:rPr lang="en-US" sz="1400" dirty="0" smtClean="0"/>
              <a:t>tables - Customer</a:t>
            </a:r>
            <a:r>
              <a:rPr lang="en-US" sz="1400" dirty="0"/>
              <a:t>, Product, Device, Date, and </a:t>
            </a:r>
            <a:r>
              <a:rPr lang="en-US" sz="1400" dirty="0" smtClean="0"/>
              <a:t>Fact - and </a:t>
            </a:r>
            <a:r>
              <a:rPr lang="en-US" sz="1400" dirty="0"/>
              <a:t>merged into one clean dataset. Missing values were filled, numerical features were standardized, and categorical variables were encoded. This ensured that all model inputs were consistent and reliable.</a:t>
            </a:r>
          </a:p>
          <a:p>
            <a:pPr marL="0" indent="0">
              <a:lnSpc>
                <a:spcPct val="100000"/>
              </a:lnSpc>
              <a:buNone/>
            </a:pPr>
            <a:r>
              <a:rPr lang="en-US" sz="1500" b="1" dirty="0"/>
              <a:t>Feature Engineering </a:t>
            </a:r>
            <a:r>
              <a:rPr lang="en-US" sz="1400" dirty="0"/>
              <a:t/>
            </a:r>
            <a:br>
              <a:rPr lang="en-US" sz="1400" dirty="0"/>
            </a:br>
            <a:r>
              <a:rPr lang="en-US" sz="1400" dirty="0"/>
              <a:t>Important behavioral and transactional features were created, including log-transformed prices, product quantities, and a binary “</a:t>
            </a:r>
            <a:r>
              <a:rPr lang="en-US" sz="1400" dirty="0" err="1"/>
              <a:t>is_high_value</a:t>
            </a:r>
            <a:r>
              <a:rPr lang="en-US" sz="1400" dirty="0"/>
              <a:t>” flag based on total spend. Additional features like day of the week and month were extracted from dates to capture seasonal shopping behavior.</a:t>
            </a:r>
          </a:p>
          <a:p>
            <a:pPr marL="0" indent="0">
              <a:lnSpc>
                <a:spcPct val="100000"/>
              </a:lnSpc>
              <a:buNone/>
            </a:pPr>
            <a:r>
              <a:rPr lang="en-US" sz="1500" b="1" dirty="0"/>
              <a:t>Model Training </a:t>
            </a:r>
            <a:r>
              <a:rPr lang="en-US" sz="1400" dirty="0"/>
              <a:t/>
            </a:r>
            <a:br>
              <a:rPr lang="en-US" sz="1400" dirty="0"/>
            </a:br>
            <a:r>
              <a:rPr lang="en-US" sz="1400" dirty="0"/>
              <a:t>Several algorithms were trained and fine-tuned, including Logistic Regression, Random Forest, Gradient Boosting, SVM, and Neural Network. Cross-validation was used to ensure fairness in comparison. The SVM model stood out by achieving the best recall while keeping precision reasonable, making it ideal for identifying customers most likely to abandon their carts.</a:t>
            </a:r>
          </a:p>
          <a:p>
            <a:pPr marL="0" indent="0">
              <a:lnSpc>
                <a:spcPct val="100000"/>
              </a:lnSpc>
              <a:buNone/>
            </a:pPr>
            <a:r>
              <a:rPr lang="en-US" sz="1500" b="1" dirty="0"/>
              <a:t>SQL </a:t>
            </a:r>
            <a:r>
              <a:rPr lang="en-US" sz="1500" b="1" dirty="0" smtClean="0"/>
              <a:t>Integration</a:t>
            </a:r>
            <a:r>
              <a:rPr lang="en-US" sz="1400" dirty="0"/>
              <a:t/>
            </a:r>
            <a:br>
              <a:rPr lang="en-US" sz="1400" dirty="0"/>
            </a:br>
            <a:r>
              <a:rPr lang="en-US" sz="1400" dirty="0"/>
              <a:t>Once the model was finalized, predictions were automatically saved into a SQLite database. This created a structured and easily accessible source for performance tracking, reporting, and further analysis.</a:t>
            </a:r>
          </a:p>
          <a:p>
            <a:pPr marL="0" indent="0">
              <a:lnSpc>
                <a:spcPct val="100000"/>
              </a:lnSpc>
              <a:buNone/>
            </a:pPr>
            <a:r>
              <a:rPr lang="en-US" sz="1500" b="1" dirty="0"/>
              <a:t>Power BI </a:t>
            </a:r>
            <a:r>
              <a:rPr lang="en-US" sz="1500" b="1" dirty="0" smtClean="0"/>
              <a:t>Visualization</a:t>
            </a:r>
            <a:r>
              <a:rPr lang="en-US" sz="1400" dirty="0"/>
              <a:t/>
            </a:r>
            <a:br>
              <a:rPr lang="en-US" sz="1400" dirty="0"/>
            </a:br>
            <a:r>
              <a:rPr lang="en-US" sz="1400" dirty="0"/>
              <a:t>The SQL database was connected to Power BI, where dashboards were built to visualize abandonment risk, model performance, and key customer insights. This made the analytics accessible to both technical and non-technical users, allowing data-driven decisions in real time</a:t>
            </a:r>
            <a:r>
              <a:rPr lang="en-US" sz="1400" dirty="0" smtClean="0"/>
              <a:t>.</a:t>
            </a:r>
            <a:endParaRPr lang="en-US" sz="1400" dirty="0"/>
          </a:p>
        </p:txBody>
      </p:sp>
      <p:sp>
        <p:nvSpPr>
          <p:cNvPr id="9" name="Title 1"/>
          <p:cNvSpPr txBox="1">
            <a:spLocks/>
          </p:cNvSpPr>
          <p:nvPr/>
        </p:nvSpPr>
        <p:spPr>
          <a:xfrm>
            <a:off x="252984" y="157861"/>
            <a:ext cx="10515600" cy="5736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smtClean="0">
                <a:latin typeface="Microsoft Sans Serif" panose="020B0604020202020204" pitchFamily="34" charset="0"/>
                <a:ea typeface="Microsoft Sans Serif" panose="020B0604020202020204" pitchFamily="34" charset="0"/>
                <a:cs typeface="Microsoft Sans Serif" panose="020B0604020202020204" pitchFamily="34" charset="0"/>
              </a:rPr>
              <a:t>Workflow Overview</a:t>
            </a:r>
            <a:endParaRPr lang="en-US" sz="28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866876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2984" y="658368"/>
            <a:ext cx="11670792" cy="2462213"/>
          </a:xfrm>
          <a:prstGeom prst="rect">
            <a:avLst/>
          </a:prstGeom>
          <a:noFill/>
        </p:spPr>
        <p:txBody>
          <a:bodyPr wrap="square" rtlCol="0">
            <a:spAutoFit/>
          </a:bodyPr>
          <a:lstStyle/>
          <a:p>
            <a:r>
              <a:rPr lang="en-US" sz="1400" dirty="0"/>
              <a:t>The final model was evaluated using standard classification metrics</a:t>
            </a:r>
            <a:r>
              <a:rPr lang="en-US" sz="1400" dirty="0" smtClean="0"/>
              <a:t>:</a:t>
            </a:r>
          </a:p>
          <a:p>
            <a:endParaRPr lang="en-US" sz="1400" dirty="0"/>
          </a:p>
          <a:p>
            <a:r>
              <a:rPr lang="en-US" sz="1400" b="1" dirty="0"/>
              <a:t>Accuracy:</a:t>
            </a:r>
            <a:r>
              <a:rPr lang="en-US" sz="1400" dirty="0"/>
              <a:t> </a:t>
            </a:r>
            <a:r>
              <a:rPr lang="en-US" sz="1400" dirty="0" smtClean="0"/>
              <a:t>0.51</a:t>
            </a:r>
          </a:p>
          <a:p>
            <a:r>
              <a:rPr lang="en-US" sz="1400" b="1" dirty="0" smtClean="0"/>
              <a:t>Recall</a:t>
            </a:r>
            <a:r>
              <a:rPr lang="en-US" sz="1400" b="1" dirty="0"/>
              <a:t>:</a:t>
            </a:r>
            <a:r>
              <a:rPr lang="en-US" sz="1400" dirty="0"/>
              <a:t> </a:t>
            </a:r>
            <a:r>
              <a:rPr lang="en-US" sz="1400" dirty="0" smtClean="0"/>
              <a:t>0.72</a:t>
            </a:r>
          </a:p>
          <a:p>
            <a:r>
              <a:rPr lang="en-US" sz="1400" b="1" dirty="0" smtClean="0"/>
              <a:t>F1 </a:t>
            </a:r>
            <a:r>
              <a:rPr lang="en-US" sz="1400" b="1" dirty="0"/>
              <a:t>Score:</a:t>
            </a:r>
            <a:r>
              <a:rPr lang="en-US" sz="1400" dirty="0"/>
              <a:t> </a:t>
            </a:r>
            <a:r>
              <a:rPr lang="en-US" sz="1400" dirty="0" smtClean="0"/>
              <a:t>0.60</a:t>
            </a:r>
          </a:p>
          <a:p>
            <a:endParaRPr lang="en-US" sz="1400" dirty="0"/>
          </a:p>
          <a:p>
            <a:r>
              <a:rPr lang="en-US" sz="1400" dirty="0"/>
              <a:t>The recall score of 0.72 shows that the model successfully identifies most customers who are at risk of abandoning their carts. While accuracy is moderate, this trade-off is acceptable given that the goal is to capture as many potential abandoners as possible rather than focus on perfect precision.</a:t>
            </a:r>
          </a:p>
          <a:p>
            <a:r>
              <a:rPr lang="en-US" sz="1400" dirty="0"/>
              <a:t>In a business context, this means the model can be used to trigger proactive retention </a:t>
            </a:r>
            <a:r>
              <a:rPr lang="en-US" sz="1400" dirty="0" smtClean="0"/>
              <a:t>actions, like </a:t>
            </a:r>
            <a:r>
              <a:rPr lang="en-US" sz="1400" dirty="0"/>
              <a:t>reminders or discount </a:t>
            </a:r>
            <a:r>
              <a:rPr lang="en-US" sz="1400" dirty="0" smtClean="0"/>
              <a:t>offers, before </a:t>
            </a:r>
            <a:r>
              <a:rPr lang="en-US" sz="1400" dirty="0"/>
              <a:t>a customer leaves the purchase process.</a:t>
            </a:r>
          </a:p>
          <a:p>
            <a:endParaRPr lang="en-US" sz="1400" dirty="0"/>
          </a:p>
        </p:txBody>
      </p:sp>
      <p:sp>
        <p:nvSpPr>
          <p:cNvPr id="5" name="Title 1"/>
          <p:cNvSpPr txBox="1">
            <a:spLocks/>
          </p:cNvSpPr>
          <p:nvPr/>
        </p:nvSpPr>
        <p:spPr>
          <a:xfrm>
            <a:off x="252984" y="194437"/>
            <a:ext cx="10515600" cy="3785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smtClean="0">
                <a:latin typeface="Microsoft Sans Serif" panose="020B0604020202020204" pitchFamily="34" charset="0"/>
                <a:ea typeface="Microsoft Sans Serif" panose="020B0604020202020204" pitchFamily="34" charset="0"/>
                <a:cs typeface="Microsoft Sans Serif" panose="020B0604020202020204" pitchFamily="34" charset="0"/>
              </a:rPr>
              <a:t>Model Performance</a:t>
            </a:r>
            <a:endParaRPr lang="en-US" sz="28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1896866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8496" y="463296"/>
            <a:ext cx="11935968" cy="6291072"/>
          </a:xfrm>
        </p:spPr>
        <p:txBody>
          <a:bodyPr>
            <a:noAutofit/>
          </a:bodyPr>
          <a:lstStyle/>
          <a:p>
            <a:pPr marL="0" indent="0">
              <a:lnSpc>
                <a:spcPct val="100000"/>
              </a:lnSpc>
              <a:buNone/>
            </a:pPr>
            <a:r>
              <a:rPr lang="en-US" sz="1400" dirty="0" smtClean="0"/>
              <a:t>The </a:t>
            </a:r>
            <a:r>
              <a:rPr lang="en-US" sz="1400" dirty="0"/>
              <a:t>insights from this project go </a:t>
            </a:r>
            <a:r>
              <a:rPr lang="en-US" sz="1400" b="1" dirty="0"/>
              <a:t>beyond </a:t>
            </a:r>
            <a:r>
              <a:rPr lang="en-US" sz="1400" b="1" dirty="0" smtClean="0"/>
              <a:t>prediction, </a:t>
            </a:r>
            <a:r>
              <a:rPr lang="en-US" sz="1400" dirty="0" smtClean="0"/>
              <a:t>they </a:t>
            </a:r>
            <a:r>
              <a:rPr lang="en-US" sz="1400" dirty="0"/>
              <a:t>highlight where the business can </a:t>
            </a:r>
            <a:r>
              <a:rPr lang="en-US" sz="1400" b="1" dirty="0"/>
              <a:t>act decisively</a:t>
            </a:r>
            <a:r>
              <a:rPr lang="en-US" sz="1400" dirty="0"/>
              <a:t> to reduce lost sales and improve the shopping experience. The model has revealed meaningful behavioral differences between customer segments, devices, and locations, which can now inform more targeted operational and marketing strategies.</a:t>
            </a:r>
          </a:p>
          <a:p>
            <a:pPr marL="0" indent="0">
              <a:lnSpc>
                <a:spcPct val="100000"/>
              </a:lnSpc>
              <a:buNone/>
            </a:pPr>
            <a:r>
              <a:rPr lang="en-US" sz="1500" b="1" dirty="0" smtClean="0"/>
              <a:t>1.    Prioritize </a:t>
            </a:r>
            <a:r>
              <a:rPr lang="en-US" sz="1500" b="1" dirty="0"/>
              <a:t>High-Risk Markets for Retention Efforts</a:t>
            </a:r>
          </a:p>
          <a:p>
            <a:pPr marL="0" indent="0">
              <a:lnSpc>
                <a:spcPct val="100000"/>
              </a:lnSpc>
              <a:buNone/>
            </a:pPr>
            <a:r>
              <a:rPr lang="en-US" sz="1400" dirty="0"/>
              <a:t>Cities like </a:t>
            </a:r>
            <a:r>
              <a:rPr lang="en-US" sz="1400" b="1" dirty="0"/>
              <a:t>London</a:t>
            </a:r>
            <a:r>
              <a:rPr lang="en-US" sz="1400" dirty="0"/>
              <a:t>, </a:t>
            </a:r>
            <a:r>
              <a:rPr lang="en-US" sz="1400" b="1" dirty="0"/>
              <a:t>Berlin</a:t>
            </a:r>
            <a:r>
              <a:rPr lang="en-US" sz="1400" dirty="0"/>
              <a:t>, and </a:t>
            </a:r>
            <a:r>
              <a:rPr lang="en-US" sz="1400" b="1" dirty="0"/>
              <a:t>Mumbai</a:t>
            </a:r>
            <a:r>
              <a:rPr lang="en-US" sz="1400" dirty="0"/>
              <a:t> show a consistently higher likelihood of cart abandonment. These regions likely face a mix of </a:t>
            </a:r>
            <a:r>
              <a:rPr lang="en-US" sz="1400" dirty="0" smtClean="0"/>
              <a:t>issues </a:t>
            </a:r>
            <a:r>
              <a:rPr lang="en-US" sz="1400" dirty="0"/>
              <a:t>from competitive pricing to cultural differences in online buying confidence. Concentrating retention campaigns and localized offers in these areas could yield measurable improvement in conversion rates. For instance, region-specific discounts, optimized shipping policies, or localized customer support might reduce hesitation at checkout.</a:t>
            </a:r>
          </a:p>
          <a:p>
            <a:pPr marL="0" indent="0">
              <a:lnSpc>
                <a:spcPct val="100000"/>
              </a:lnSpc>
              <a:buNone/>
            </a:pPr>
            <a:r>
              <a:rPr lang="en-US" sz="1500" b="1" dirty="0" smtClean="0"/>
              <a:t>2.    Optimize </a:t>
            </a:r>
            <a:r>
              <a:rPr lang="en-US" sz="1500" b="1" dirty="0"/>
              <a:t>the Mobile Checkout Experience</a:t>
            </a:r>
          </a:p>
          <a:p>
            <a:pPr marL="0" indent="0">
              <a:lnSpc>
                <a:spcPct val="100000"/>
              </a:lnSpc>
              <a:buNone/>
            </a:pPr>
            <a:r>
              <a:rPr lang="en-US" sz="1400" dirty="0"/>
              <a:t>With mobile </a:t>
            </a:r>
            <a:r>
              <a:rPr lang="en-US" sz="1400" dirty="0" smtClean="0"/>
              <a:t>users, especially </a:t>
            </a:r>
            <a:r>
              <a:rPr lang="en-US" sz="1400" dirty="0"/>
              <a:t>female </a:t>
            </a:r>
            <a:r>
              <a:rPr lang="en-US" sz="1400" dirty="0" smtClean="0"/>
              <a:t>shoppers, show </a:t>
            </a:r>
            <a:r>
              <a:rPr lang="en-US" sz="1400" dirty="0"/>
              <a:t>the highest abandonment rates, </a:t>
            </a:r>
            <a:r>
              <a:rPr lang="en-US" sz="1400" dirty="0" smtClean="0"/>
              <a:t>so the mobile checkout experience needs closer attention and improvement. </a:t>
            </a:r>
            <a:r>
              <a:rPr lang="en-US" sz="1400" b="1" dirty="0"/>
              <a:t>Friction points</a:t>
            </a:r>
            <a:r>
              <a:rPr lang="en-US" sz="1400" dirty="0"/>
              <a:t> like form complexity, slow page load, or lack of preferred payment options can discourage completion. Simplifying mobile checkout steps, adding digital wallet integrations, and improving progress visibility can create smoother experiences and lower abandonment.</a:t>
            </a:r>
          </a:p>
          <a:p>
            <a:pPr marL="0" indent="0">
              <a:lnSpc>
                <a:spcPct val="100000"/>
              </a:lnSpc>
              <a:buNone/>
            </a:pPr>
            <a:r>
              <a:rPr lang="en-US" sz="1500" b="1" dirty="0" smtClean="0"/>
              <a:t>3.    Leverage </a:t>
            </a:r>
            <a:r>
              <a:rPr lang="en-US" sz="1500" b="1" dirty="0"/>
              <a:t>Predictive Scores for Targeted Re-Engagement</a:t>
            </a:r>
          </a:p>
          <a:p>
            <a:pPr marL="0" indent="0">
              <a:lnSpc>
                <a:spcPct val="100000"/>
              </a:lnSpc>
              <a:buNone/>
            </a:pPr>
            <a:r>
              <a:rPr lang="en-US" sz="1400" dirty="0"/>
              <a:t>The predictive model can serve as an early-warning system. When a session crosses a high abandonment risk threshold (e.g., </a:t>
            </a:r>
            <a:r>
              <a:rPr lang="en-US" sz="1400" dirty="0" smtClean="0"/>
              <a:t>0.6 </a:t>
            </a:r>
            <a:r>
              <a:rPr lang="en-US" sz="1400" dirty="0"/>
              <a:t>or higher), the system can trigger </a:t>
            </a:r>
            <a:r>
              <a:rPr lang="en-US" sz="1400" b="1" dirty="0"/>
              <a:t>personalized email or in-app reminders</a:t>
            </a:r>
            <a:r>
              <a:rPr lang="en-US" sz="1400" dirty="0"/>
              <a:t>, offering limited-time discounts or highlighting saved items. This kind of real-time, data-driven outreach can recover a significant share of potentially lost sales.</a:t>
            </a:r>
          </a:p>
          <a:p>
            <a:pPr marL="0" indent="0">
              <a:lnSpc>
                <a:spcPct val="100000"/>
              </a:lnSpc>
              <a:buNone/>
            </a:pPr>
            <a:r>
              <a:rPr lang="en-US" sz="1500" b="1" dirty="0" smtClean="0"/>
              <a:t>4.    Protect </a:t>
            </a:r>
            <a:r>
              <a:rPr lang="en-US" sz="1500" b="1" dirty="0"/>
              <a:t>and Grow the High-Value Customer Segment</a:t>
            </a:r>
          </a:p>
          <a:p>
            <a:pPr marL="0" indent="0">
              <a:lnSpc>
                <a:spcPct val="100000"/>
              </a:lnSpc>
              <a:buNone/>
            </a:pPr>
            <a:r>
              <a:rPr lang="en-US" sz="1400" dirty="0"/>
              <a:t>High-value customers represent </a:t>
            </a:r>
            <a:r>
              <a:rPr lang="en-US" sz="1400" b="1" dirty="0"/>
              <a:t>25% of all shoppers</a:t>
            </a:r>
            <a:r>
              <a:rPr lang="en-US" sz="1400" dirty="0"/>
              <a:t> but contribute disproportionately to revenue. </a:t>
            </a:r>
            <a:r>
              <a:rPr lang="en-US" sz="1400" b="1" dirty="0"/>
              <a:t>Targeted retention</a:t>
            </a:r>
            <a:r>
              <a:rPr lang="en-US" sz="1400" dirty="0"/>
              <a:t> for this group should focus on loyalty programs, early access offers, or premium customer support. Even a small drop in abandonment among this segment could translate into major profit gains.</a:t>
            </a:r>
          </a:p>
          <a:p>
            <a:pPr marL="0" indent="0">
              <a:lnSpc>
                <a:spcPct val="100000"/>
              </a:lnSpc>
              <a:buNone/>
            </a:pPr>
            <a:r>
              <a:rPr lang="en-US" sz="1500" b="1" dirty="0" smtClean="0"/>
              <a:t>5.    Bridge </a:t>
            </a:r>
            <a:r>
              <a:rPr lang="en-US" sz="1500" b="1" dirty="0"/>
              <a:t>Marketing and Product Teams with Data Insights</a:t>
            </a:r>
          </a:p>
          <a:p>
            <a:pPr marL="0" indent="0">
              <a:lnSpc>
                <a:spcPct val="100000"/>
              </a:lnSpc>
              <a:buNone/>
            </a:pPr>
            <a:r>
              <a:rPr lang="en-US" sz="1400" dirty="0"/>
              <a:t>The analysis has shown how behavioral data can inform both marketing strategy and product design. Marketing teams can use these patterns to refine audience targeting, while product teams can translate them into design and UX </a:t>
            </a:r>
            <a:r>
              <a:rPr lang="en-US" sz="1400" dirty="0" smtClean="0"/>
              <a:t>improvements. This kind of cross-functional collaboration turns data insights into tangible business outcomes.</a:t>
            </a:r>
            <a:endParaRPr lang="en-US" sz="1400" dirty="0"/>
          </a:p>
        </p:txBody>
      </p:sp>
      <p:sp>
        <p:nvSpPr>
          <p:cNvPr id="4" name="Title 1"/>
          <p:cNvSpPr txBox="1">
            <a:spLocks/>
          </p:cNvSpPr>
          <p:nvPr/>
        </p:nvSpPr>
        <p:spPr>
          <a:xfrm>
            <a:off x="158496" y="163957"/>
            <a:ext cx="10515600" cy="2993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icrosoft Sans Serif" panose="020B0604020202020204" pitchFamily="34" charset="0"/>
                <a:ea typeface="Microsoft Sans Serif" panose="020B0604020202020204" pitchFamily="34" charset="0"/>
                <a:cs typeface="Microsoft Sans Serif" panose="020B0604020202020204" pitchFamily="34" charset="0"/>
              </a:rPr>
              <a:t>Business Implications and Strategic Recommendations</a:t>
            </a:r>
          </a:p>
        </p:txBody>
      </p:sp>
    </p:spTree>
    <p:extLst>
      <p:ext uri="{BB962C8B-B14F-4D97-AF65-F5344CB8AC3E}">
        <p14:creationId xmlns:p14="http://schemas.microsoft.com/office/powerpoint/2010/main" val="30154769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46304" y="658368"/>
            <a:ext cx="11765280" cy="5109091"/>
          </a:xfrm>
          <a:prstGeom prst="rect">
            <a:avLst/>
          </a:prstGeom>
          <a:noFill/>
        </p:spPr>
        <p:txBody>
          <a:bodyPr wrap="square" rtlCol="0">
            <a:spAutoFit/>
          </a:bodyPr>
          <a:lstStyle/>
          <a:p>
            <a:r>
              <a:rPr lang="en-US" sz="1400" dirty="0"/>
              <a:t>This project lays the foundation for a data-driven approach to understanding and preventing cart abandonment. The next phase should focus on improving model performance, deepening automation, and embedding insights into real-time </a:t>
            </a:r>
            <a:r>
              <a:rPr lang="en-US" sz="1400" dirty="0" smtClean="0"/>
              <a:t>operations.</a:t>
            </a:r>
          </a:p>
          <a:p>
            <a:endParaRPr lang="en-US" sz="1400" dirty="0" smtClean="0"/>
          </a:p>
          <a:p>
            <a:r>
              <a:rPr lang="en-US" sz="1500" b="1" dirty="0" smtClean="0"/>
              <a:t>1.    Refine </a:t>
            </a:r>
            <a:r>
              <a:rPr lang="en-US" sz="1500" b="1" dirty="0"/>
              <a:t>the Prediction </a:t>
            </a:r>
            <a:r>
              <a:rPr lang="en-US" sz="1500" b="1" dirty="0" smtClean="0"/>
              <a:t>Model</a:t>
            </a:r>
          </a:p>
          <a:p>
            <a:r>
              <a:rPr lang="en-US" sz="1400" dirty="0" smtClean="0"/>
              <a:t>The </a:t>
            </a:r>
            <a:r>
              <a:rPr lang="en-US" sz="1400" dirty="0"/>
              <a:t>current model’s recall of 0.72 is strong for identifying at-risk customers, but future work should aim to improve precision without sacrificing recall. Experimenting with ensemble stacking or fine-tuning the decision threshold could create a better balance between identifying abandoners and reducing false positives</a:t>
            </a:r>
            <a:r>
              <a:rPr lang="en-US" sz="1400" dirty="0" smtClean="0"/>
              <a:t>.</a:t>
            </a:r>
          </a:p>
          <a:p>
            <a:endParaRPr lang="en-US" sz="1400" dirty="0"/>
          </a:p>
          <a:p>
            <a:r>
              <a:rPr lang="en-US" sz="1500" b="1" dirty="0" smtClean="0"/>
              <a:t>2.    Integrate </a:t>
            </a:r>
            <a:r>
              <a:rPr lang="en-US" sz="1500" b="1" dirty="0"/>
              <a:t>Predictions into Live Marketing </a:t>
            </a:r>
            <a:r>
              <a:rPr lang="en-US" sz="1500" b="1" dirty="0" smtClean="0"/>
              <a:t>Systems</a:t>
            </a:r>
          </a:p>
          <a:p>
            <a:r>
              <a:rPr lang="en-US" sz="1400" dirty="0" smtClean="0"/>
              <a:t>Deploying </a:t>
            </a:r>
            <a:r>
              <a:rPr lang="en-US" sz="1400" dirty="0"/>
              <a:t>the model within the company’s marketing automation or CRM platform would allow predictions to trigger real-time </a:t>
            </a:r>
            <a:r>
              <a:rPr lang="en-US" sz="1400" dirty="0" smtClean="0"/>
              <a:t>actions, </a:t>
            </a:r>
            <a:r>
              <a:rPr lang="en-US" sz="1400" dirty="0"/>
              <a:t>such as sending a reminder email or push notification minutes after a cart is left idle. This step would turn the analysis from retrospective insight into live business impact</a:t>
            </a:r>
            <a:r>
              <a:rPr lang="en-US" sz="1400" dirty="0" smtClean="0"/>
              <a:t>.</a:t>
            </a:r>
          </a:p>
          <a:p>
            <a:endParaRPr lang="en-US" sz="1400" dirty="0"/>
          </a:p>
          <a:p>
            <a:r>
              <a:rPr lang="en-US" sz="1500" b="1" dirty="0" smtClean="0"/>
              <a:t>3.    Implement </a:t>
            </a:r>
            <a:r>
              <a:rPr lang="en-US" sz="1500" b="1" dirty="0"/>
              <a:t>Continuous Monitoring and Model Drift Checks</a:t>
            </a:r>
          </a:p>
          <a:p>
            <a:r>
              <a:rPr lang="en-US" sz="1400" dirty="0"/>
              <a:t>Consumer behavior changes rapidly. Regularly retraining the model with new data and tracking performance over time ensures it remains accurate and aligned with evolving patterns. This can be automated through scheduled retraining pipelines or dashboard alerts when accuracy or recall drops below target levels</a:t>
            </a:r>
            <a:r>
              <a:rPr lang="en-US" sz="1400" dirty="0" smtClean="0"/>
              <a:t>.</a:t>
            </a:r>
          </a:p>
          <a:p>
            <a:endParaRPr lang="en-US" sz="1400" dirty="0"/>
          </a:p>
          <a:p>
            <a:r>
              <a:rPr lang="en-US" sz="1500" b="1" dirty="0" smtClean="0"/>
              <a:t>4.    Expand </a:t>
            </a:r>
            <a:r>
              <a:rPr lang="en-US" sz="1500" b="1" dirty="0"/>
              <a:t>the Scope of Analysis</a:t>
            </a:r>
          </a:p>
          <a:p>
            <a:r>
              <a:rPr lang="en-US" sz="1400" dirty="0"/>
              <a:t>Future iterations could include additional behavioral data such as session duration, referral source, or device location data. These features might reveal new predictors of abandonment and help design more nuanced interventions</a:t>
            </a:r>
            <a:r>
              <a:rPr lang="en-US" sz="1400" dirty="0" smtClean="0"/>
              <a:t>.</a:t>
            </a:r>
          </a:p>
          <a:p>
            <a:endParaRPr lang="en-US" sz="1400" dirty="0"/>
          </a:p>
          <a:p>
            <a:r>
              <a:rPr lang="en-US" sz="1400" dirty="0"/>
              <a:t>In </a:t>
            </a:r>
            <a:r>
              <a:rPr lang="en-US" sz="1400" dirty="0" smtClean="0"/>
              <a:t>summary, the </a:t>
            </a:r>
            <a:r>
              <a:rPr lang="en-US" sz="1400" dirty="0"/>
              <a:t>model has proven its value as both an </a:t>
            </a:r>
            <a:r>
              <a:rPr lang="en-US" sz="1400" b="1" dirty="0"/>
              <a:t>analytical and operational tool</a:t>
            </a:r>
            <a:r>
              <a:rPr lang="en-US" sz="1400" dirty="0"/>
              <a:t>. Moving forward, the focus should shift from insight generation to </a:t>
            </a:r>
            <a:r>
              <a:rPr lang="en-US" sz="1400" dirty="0" smtClean="0"/>
              <a:t>execution, which include, integrating </a:t>
            </a:r>
            <a:r>
              <a:rPr lang="en-US" sz="1400" dirty="0"/>
              <a:t>the predictions into real-time systems, aligning business teams around data-driven interventions, and continuously improving model performance to stay ahead of customer behavior trends</a:t>
            </a:r>
            <a:r>
              <a:rPr lang="en-US" sz="1400" dirty="0" smtClean="0"/>
              <a:t>.</a:t>
            </a:r>
            <a:endParaRPr lang="en-US" sz="1400" dirty="0"/>
          </a:p>
        </p:txBody>
      </p:sp>
      <p:sp>
        <p:nvSpPr>
          <p:cNvPr id="8" name="Title 1"/>
          <p:cNvSpPr txBox="1">
            <a:spLocks/>
          </p:cNvSpPr>
          <p:nvPr/>
        </p:nvSpPr>
        <p:spPr>
          <a:xfrm>
            <a:off x="146304" y="224917"/>
            <a:ext cx="2450592" cy="2993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smtClean="0">
                <a:latin typeface="+mn-lt"/>
              </a:rPr>
              <a:t>Path Forward</a:t>
            </a:r>
            <a:endParaRPr lang="en-US" sz="2800" b="1" dirty="0">
              <a:latin typeface="+mn-lt"/>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1847896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6304" y="224917"/>
            <a:ext cx="2011680" cy="2993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smtClean="0">
                <a:latin typeface="Microsoft Sans Serif" panose="020B0604020202020204" pitchFamily="34" charset="0"/>
                <a:ea typeface="Microsoft Sans Serif" panose="020B0604020202020204" pitchFamily="34" charset="0"/>
                <a:cs typeface="Microsoft Sans Serif" panose="020B0604020202020204" pitchFamily="34" charset="0"/>
              </a:rPr>
              <a:t>Thank You</a:t>
            </a:r>
            <a:endParaRPr lang="en-US" sz="28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itle 1"/>
          <p:cNvSpPr txBox="1">
            <a:spLocks noGrp="1"/>
          </p:cNvSpPr>
          <p:nvPr>
            <p:ph idx="1"/>
          </p:nvPr>
        </p:nvSpPr>
        <p:spPr>
          <a:xfrm>
            <a:off x="146304" y="646176"/>
            <a:ext cx="10515600" cy="34137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1400" dirty="0">
                <a:latin typeface="+mn-lt"/>
              </a:rPr>
              <a:t>Thank you for your time and </a:t>
            </a:r>
            <a:r>
              <a:rPr lang="en-US" sz="1400" dirty="0" smtClean="0">
                <a:latin typeface="+mn-lt"/>
              </a:rPr>
              <a:t>attention.</a:t>
            </a:r>
          </a:p>
          <a:p>
            <a:pPr>
              <a:lnSpc>
                <a:spcPct val="100000"/>
              </a:lnSpc>
            </a:pPr>
            <a:endParaRPr lang="en-US" sz="1400" dirty="0">
              <a:latin typeface="+mn-lt"/>
            </a:endParaRPr>
          </a:p>
          <a:p>
            <a:pPr>
              <a:lnSpc>
                <a:spcPct val="100000"/>
              </a:lnSpc>
            </a:pPr>
            <a:r>
              <a:rPr lang="en-US" sz="1400" dirty="0" smtClean="0">
                <a:latin typeface="+mn-lt"/>
              </a:rPr>
              <a:t>This </a:t>
            </a:r>
            <a:r>
              <a:rPr lang="en-US" sz="1400" dirty="0">
                <a:latin typeface="+mn-lt"/>
              </a:rPr>
              <a:t>project represents how data science can bridge business challenges and customer behavior </a:t>
            </a:r>
            <a:r>
              <a:rPr lang="en-US" sz="1400" dirty="0" smtClean="0">
                <a:latin typeface="+mn-lt"/>
              </a:rPr>
              <a:t>whereby </a:t>
            </a:r>
            <a:r>
              <a:rPr lang="en-US" sz="1400" dirty="0" smtClean="0">
                <a:latin typeface="+mn-lt"/>
              </a:rPr>
              <a:t>turning </a:t>
            </a:r>
            <a:r>
              <a:rPr lang="en-US" sz="1400" dirty="0">
                <a:latin typeface="+mn-lt"/>
              </a:rPr>
              <a:t>insights into actions </a:t>
            </a:r>
            <a:r>
              <a:rPr lang="en-US" sz="1400" dirty="0" smtClean="0">
                <a:latin typeface="+mn-lt"/>
              </a:rPr>
              <a:t>that</a:t>
            </a:r>
          </a:p>
          <a:p>
            <a:pPr>
              <a:lnSpc>
                <a:spcPct val="100000"/>
              </a:lnSpc>
            </a:pPr>
            <a:r>
              <a:rPr lang="en-US" sz="1400" dirty="0" smtClean="0">
                <a:latin typeface="+mn-lt"/>
              </a:rPr>
              <a:t>drive </a:t>
            </a:r>
            <a:r>
              <a:rPr lang="en-US" sz="1400" dirty="0">
                <a:latin typeface="+mn-lt"/>
              </a:rPr>
              <a:t>measurable </a:t>
            </a:r>
            <a:r>
              <a:rPr lang="en-US" sz="1400" dirty="0" smtClean="0">
                <a:latin typeface="+mn-lt"/>
              </a:rPr>
              <a:t>impact.</a:t>
            </a:r>
          </a:p>
          <a:p>
            <a:pPr>
              <a:lnSpc>
                <a:spcPct val="100000"/>
              </a:lnSpc>
            </a:pPr>
            <a:endParaRPr lang="en-US" sz="1400" dirty="0">
              <a:latin typeface="+mn-lt"/>
            </a:endParaRPr>
          </a:p>
          <a:p>
            <a:pPr>
              <a:lnSpc>
                <a:spcPct val="100000"/>
              </a:lnSpc>
            </a:pPr>
            <a:r>
              <a:rPr lang="en-US" sz="1400" dirty="0" smtClean="0">
                <a:latin typeface="+mn-lt"/>
              </a:rPr>
              <a:t>I’d </a:t>
            </a:r>
            <a:r>
              <a:rPr lang="en-US" sz="1400" dirty="0">
                <a:latin typeface="+mn-lt"/>
              </a:rPr>
              <a:t>be happy to take any questions or discuss possible extensions of the project, such as real-time deployment, deeper </a:t>
            </a:r>
            <a:r>
              <a:rPr lang="en-US" sz="1400" dirty="0" smtClean="0">
                <a:latin typeface="+mn-lt"/>
              </a:rPr>
              <a:t>behavioral</a:t>
            </a:r>
          </a:p>
          <a:p>
            <a:pPr>
              <a:lnSpc>
                <a:spcPct val="100000"/>
              </a:lnSpc>
            </a:pPr>
            <a:r>
              <a:rPr lang="en-US" sz="1400" dirty="0" smtClean="0">
                <a:latin typeface="+mn-lt"/>
              </a:rPr>
              <a:t>segmentation</a:t>
            </a:r>
            <a:r>
              <a:rPr lang="en-US" sz="1400" dirty="0">
                <a:latin typeface="+mn-lt"/>
              </a:rPr>
              <a:t>, or model optimization</a:t>
            </a:r>
            <a:r>
              <a:rPr lang="en-US" sz="1400" dirty="0" smtClean="0">
                <a:latin typeface="+mn-lt"/>
              </a:rPr>
              <a:t>.</a:t>
            </a:r>
          </a:p>
          <a:p>
            <a:pPr>
              <a:lnSpc>
                <a:spcPct val="100000"/>
              </a:lnSpc>
            </a:pPr>
            <a:endParaRPr lang="en-US" sz="1400" dirty="0">
              <a:latin typeface="+mn-lt"/>
            </a:endParaRPr>
          </a:p>
          <a:p>
            <a:pPr>
              <a:lnSpc>
                <a:spcPct val="100000"/>
              </a:lnSpc>
            </a:pPr>
            <a:r>
              <a:rPr lang="en-US" sz="1400" b="1" dirty="0">
                <a:latin typeface="+mn-lt"/>
              </a:rPr>
              <a:t>Contact </a:t>
            </a:r>
            <a:r>
              <a:rPr lang="en-US" sz="1400" b="1" dirty="0" smtClean="0">
                <a:latin typeface="+mn-lt"/>
              </a:rPr>
              <a:t>Details</a:t>
            </a:r>
          </a:p>
          <a:p>
            <a:pPr>
              <a:lnSpc>
                <a:spcPct val="100000"/>
              </a:lnSpc>
            </a:pPr>
            <a:endParaRPr lang="en-US" sz="1400" dirty="0">
              <a:latin typeface="+mn-lt"/>
            </a:endParaRPr>
          </a:p>
          <a:p>
            <a:pPr>
              <a:lnSpc>
                <a:spcPct val="100000"/>
              </a:lnSpc>
            </a:pPr>
            <a:r>
              <a:rPr lang="en-US" sz="1400" dirty="0" smtClean="0">
                <a:latin typeface="+mn-lt"/>
              </a:rPr>
              <a:t>📧 </a:t>
            </a:r>
            <a:r>
              <a:rPr lang="en-US" sz="1400" b="1" dirty="0">
                <a:latin typeface="+mn-lt"/>
              </a:rPr>
              <a:t>Email:</a:t>
            </a:r>
            <a:r>
              <a:rPr lang="en-US" sz="1400" dirty="0">
                <a:latin typeface="+mn-lt"/>
              </a:rPr>
              <a:t> </a:t>
            </a:r>
            <a:r>
              <a:rPr lang="en-US" sz="1400" dirty="0" smtClean="0">
                <a:latin typeface="+mn-lt"/>
                <a:hlinkClick r:id="rId2"/>
              </a:rPr>
              <a:t>oidiagbonmwen@gmail.com</a:t>
            </a:r>
            <a:endParaRPr lang="en-US" sz="1400" dirty="0" smtClean="0">
              <a:latin typeface="+mn-lt"/>
            </a:endParaRPr>
          </a:p>
          <a:p>
            <a:pPr>
              <a:lnSpc>
                <a:spcPct val="100000"/>
              </a:lnSpc>
            </a:pPr>
            <a:r>
              <a:rPr lang="en-US" sz="1400" dirty="0" smtClean="0">
                <a:latin typeface="+mn-lt"/>
              </a:rPr>
              <a:t>🔗 </a:t>
            </a:r>
            <a:r>
              <a:rPr lang="en-US" sz="1400" b="1" dirty="0">
                <a:latin typeface="+mn-lt"/>
              </a:rPr>
              <a:t>LinkedIn:</a:t>
            </a:r>
            <a:r>
              <a:rPr lang="en-US" sz="1400" dirty="0">
                <a:latin typeface="+mn-lt"/>
              </a:rPr>
              <a:t> </a:t>
            </a:r>
            <a:r>
              <a:rPr lang="en-US" sz="1400" dirty="0" err="1" smtClean="0">
                <a:latin typeface="+mn-lt"/>
                <a:hlinkClick r:id="rId3"/>
              </a:rPr>
              <a:t>Osaretin</a:t>
            </a:r>
            <a:r>
              <a:rPr lang="en-US" sz="1400" dirty="0" smtClean="0">
                <a:latin typeface="+mn-lt"/>
                <a:hlinkClick r:id="rId3"/>
              </a:rPr>
              <a:t> </a:t>
            </a:r>
            <a:r>
              <a:rPr lang="en-US" sz="1400" dirty="0" err="1" smtClean="0">
                <a:latin typeface="+mn-lt"/>
                <a:hlinkClick r:id="rId3"/>
              </a:rPr>
              <a:t>Idiagbonmwen</a:t>
            </a:r>
            <a:endParaRPr lang="en-US" sz="1400" dirty="0">
              <a:latin typeface="+mn-lt"/>
            </a:endParaRPr>
          </a:p>
          <a:p>
            <a:pPr>
              <a:lnSpc>
                <a:spcPct val="100000"/>
              </a:lnSpc>
            </a:pPr>
            <a:r>
              <a:rPr lang="en-US" sz="1400" dirty="0" smtClean="0">
                <a:latin typeface="+mn-lt"/>
              </a:rPr>
              <a:t>💻 </a:t>
            </a:r>
            <a:r>
              <a:rPr lang="en-US" sz="1400" b="1" dirty="0">
                <a:latin typeface="+mn-lt"/>
              </a:rPr>
              <a:t>GitHub:</a:t>
            </a:r>
            <a:r>
              <a:rPr lang="en-US" sz="1400" dirty="0">
                <a:latin typeface="+mn-lt"/>
              </a:rPr>
              <a:t> </a:t>
            </a:r>
            <a:r>
              <a:rPr lang="en-US" sz="1400" dirty="0" smtClean="0">
                <a:latin typeface="+mn-lt"/>
                <a:hlinkClick r:id="rId4"/>
              </a:rPr>
              <a:t>github.com/</a:t>
            </a:r>
            <a:r>
              <a:rPr lang="en-US" sz="1400" dirty="0" err="1" smtClean="0">
                <a:latin typeface="+mn-lt"/>
                <a:hlinkClick r:id="rId4"/>
              </a:rPr>
              <a:t>OsasAnalyst</a:t>
            </a:r>
            <a:endParaRPr lang="en-US" sz="1400" dirty="0">
              <a:latin typeface="+mn-lt"/>
            </a:endParaRPr>
          </a:p>
          <a:p>
            <a:pPr>
              <a:lnSpc>
                <a:spcPct val="100000"/>
              </a:lnSpc>
            </a:pPr>
            <a:r>
              <a:rPr lang="en-US" sz="1400" dirty="0" smtClean="0">
                <a:latin typeface="+mn-lt"/>
              </a:rPr>
              <a:t>📂 </a:t>
            </a:r>
            <a:r>
              <a:rPr lang="en-US" sz="1400" b="1" dirty="0">
                <a:latin typeface="+mn-lt"/>
              </a:rPr>
              <a:t>Project Repository:</a:t>
            </a:r>
            <a:r>
              <a:rPr lang="en-US" sz="1400" dirty="0">
                <a:latin typeface="+mn-lt"/>
              </a:rPr>
              <a:t> </a:t>
            </a:r>
            <a:r>
              <a:rPr lang="en-US" sz="1400" dirty="0">
                <a:latin typeface="+mn-lt"/>
                <a:hlinkClick r:id="rId5"/>
              </a:rPr>
              <a:t>Cart Abandonment </a:t>
            </a:r>
            <a:r>
              <a:rPr lang="en-US" sz="1400" dirty="0" smtClean="0">
                <a:latin typeface="+mn-lt"/>
                <a:hlinkClick r:id="rId5"/>
              </a:rPr>
              <a:t>Prediction</a:t>
            </a:r>
            <a:endParaRPr lang="en-US" sz="1400" dirty="0" smtClean="0">
              <a:latin typeface="+mn-lt"/>
            </a:endParaRPr>
          </a:p>
          <a:p>
            <a:pPr>
              <a:lnSpc>
                <a:spcPct val="100000"/>
              </a:lnSpc>
            </a:pPr>
            <a:endParaRPr lang="en-US" sz="1400" b="1" dirty="0">
              <a:latin typeface="+mn-lt"/>
            </a:endParaRPr>
          </a:p>
          <a:p>
            <a:pPr>
              <a:lnSpc>
                <a:spcPct val="100000"/>
              </a:lnSpc>
            </a:pPr>
            <a:r>
              <a:rPr lang="en-US" sz="1400" b="1" dirty="0" smtClean="0">
                <a:latin typeface="+mn-lt"/>
              </a:rPr>
              <a:t>Thank </a:t>
            </a:r>
            <a:r>
              <a:rPr lang="en-US" sz="1400" b="1" dirty="0">
                <a:latin typeface="+mn-lt"/>
              </a:rPr>
              <a:t>you</a:t>
            </a:r>
            <a:r>
              <a:rPr lang="en-US" sz="1400" b="1" dirty="0" smtClean="0">
                <a:latin typeface="+mn-lt"/>
              </a:rPr>
              <a:t>!</a:t>
            </a:r>
            <a:endParaRPr lang="en-US" sz="1400" dirty="0" smtClean="0">
              <a:latin typeface="+mn-lt"/>
            </a:endParaRPr>
          </a:p>
        </p:txBody>
      </p:sp>
    </p:spTree>
    <p:extLst>
      <p:ext uri="{BB962C8B-B14F-4D97-AF65-F5344CB8AC3E}">
        <p14:creationId xmlns:p14="http://schemas.microsoft.com/office/powerpoint/2010/main" val="34920414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3">
      <a:dk1>
        <a:srgbClr val="191919"/>
      </a:dk1>
      <a:lt1>
        <a:srgbClr val="FAFAFA"/>
      </a:lt1>
      <a:dk2>
        <a:srgbClr val="2D2D2D"/>
      </a:dk2>
      <a:lt2>
        <a:srgbClr val="E6EBF0"/>
      </a:lt2>
      <a:accent1>
        <a:srgbClr val="004C6D"/>
      </a:accent1>
      <a:accent2>
        <a:srgbClr val="008BAE"/>
      </a:accent2>
      <a:accent3>
        <a:srgbClr val="8DC63F"/>
      </a:accent3>
      <a:accent4>
        <a:srgbClr val="FFB81C"/>
      </a:accent4>
      <a:accent5>
        <a:srgbClr val="E64A19"/>
      </a:accent5>
      <a:accent6>
        <a:srgbClr val="6200EA"/>
      </a:accent6>
      <a:hlink>
        <a:srgbClr val="0066CC"/>
      </a:hlink>
      <a:folHlink>
        <a:srgbClr val="6600C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599</TotalTime>
  <Words>2960</Words>
  <Application>Microsoft Office PowerPoint</Application>
  <PresentationFormat>Widescreen</PresentationFormat>
  <Paragraphs>188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Calibri</vt:lpstr>
      <vt:lpstr>Calibri Light</vt:lpstr>
      <vt:lpstr>Microsoft Sans Serif</vt:lpstr>
      <vt:lpstr>Office Theme</vt:lpstr>
      <vt:lpstr>Cart Abandonment Analysis</vt:lpstr>
      <vt:lpstr>Table Of Content</vt:lpstr>
      <vt:lpstr>Project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71</cp:revision>
  <dcterms:created xsi:type="dcterms:W3CDTF">2025-11-02T20:57:56Z</dcterms:created>
  <dcterms:modified xsi:type="dcterms:W3CDTF">2025-11-04T01:46:16Z</dcterms:modified>
</cp:coreProperties>
</file>